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fb34823ec147f4" /><Relationship Type="http://schemas.openxmlformats.org/officeDocument/2006/relationships/extended-properties" Target="/docProps/app.xml" Id="R335ca985d57b49db" /><Relationship Type="http://schemas.openxmlformats.org/officeDocument/2006/relationships/officeDocument" Target="/ppt/presentation.xml" Id="R7afa11fbaa804983" /></Relationships>
</file>

<file path=ppt/presentation.xml><?xml version="1.0" encoding="utf-8"?>
<p:presentation xmlns:p="http://schemas.openxmlformats.org/presentationml/2006/main">
  <p:sldMasterIdLst>
    <p:sldMasterId xmlns:r="http://schemas.openxmlformats.org/officeDocument/2006/relationships" id="2147483648" r:id="Rfd83745a679e41f4"/>
  </p:sldMasterIdLst>
  <p:notesMasterIdLst>
    <p:notesMasterId xmlns:r="http://schemas.openxmlformats.org/officeDocument/2006/relationships" r:id="R3d69ee447397479d"/>
  </p:notesMasterIdLst>
  <p:sldIdLst>
    <p:sldId xmlns:r="http://schemas.openxmlformats.org/officeDocument/2006/relationships" id="256" r:id="Rc7cdfc395eb742cb"/>
    <p:sldId xmlns:r="http://schemas.openxmlformats.org/officeDocument/2006/relationships" id="257" r:id="Reccd1bd0d6db4ee7"/>
    <p:sldId xmlns:r="http://schemas.openxmlformats.org/officeDocument/2006/relationships" id="258" r:id="R1e061a4afe0f41e5"/>
    <p:sldId xmlns:r="http://schemas.openxmlformats.org/officeDocument/2006/relationships" id="259" r:id="R5238a87127c04871"/>
    <p:sldId xmlns:r="http://schemas.openxmlformats.org/officeDocument/2006/relationships" id="260" r:id="Rce013149cfd24f3e"/>
    <p:sldId xmlns:r="http://schemas.openxmlformats.org/officeDocument/2006/relationships" id="261" r:id="Re47c5d0182a54332"/>
    <p:sldId xmlns:r="http://schemas.openxmlformats.org/officeDocument/2006/relationships" id="262" r:id="R5bfb5789983c4c14"/>
    <p:sldId xmlns:r="http://schemas.openxmlformats.org/officeDocument/2006/relationships" id="263" r:id="R5bfab186ee544f79"/>
    <p:sldId xmlns:r="http://schemas.openxmlformats.org/officeDocument/2006/relationships" id="264" r:id="R0cdf2ba032cf4ca4"/>
    <p:sldId xmlns:r="http://schemas.openxmlformats.org/officeDocument/2006/relationships" id="265" r:id="R8964ca21c24a4b4a"/>
    <p:sldId xmlns:r="http://schemas.openxmlformats.org/officeDocument/2006/relationships" id="266" r:id="R56538aa49e464bbf"/>
    <p:sldId xmlns:r="http://schemas.openxmlformats.org/officeDocument/2006/relationships" id="267" r:id="R97086ea38bea4249"/>
    <p:sldId xmlns:r="http://schemas.openxmlformats.org/officeDocument/2006/relationships" id="268" r:id="R78f91c06fbed4111"/>
    <p:sldId xmlns:r="http://schemas.openxmlformats.org/officeDocument/2006/relationships" id="269" r:id="Rc77ceb51b8fc4f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0b10f26f37458a" /><Relationship Type="http://schemas.openxmlformats.org/officeDocument/2006/relationships/slideMaster" Target="/ppt/slideMasters/slideMaster1.xml" Id="Rfd83745a679e41f4" /><Relationship Type="http://schemas.openxmlformats.org/officeDocument/2006/relationships/notesMaster" Target="/ppt/notesMasters/notesMaster1.xml" Id="R3d69ee447397479d" /><Relationship Type="http://schemas.openxmlformats.org/officeDocument/2006/relationships/presProps" Target="/ppt/presProps.xml" Id="R08b8c1f8b74a4fa7" /><Relationship Type="http://schemas.openxmlformats.org/officeDocument/2006/relationships/tableStyles" Target="/ppt/tableStyles.xml" Id="R88a03473ee434310" /><Relationship Type="http://schemas.openxmlformats.org/officeDocument/2006/relationships/slide" Target="/ppt/slides/slide1.xml" Id="Rc7cdfc395eb742cb" /><Relationship Type="http://schemas.openxmlformats.org/officeDocument/2006/relationships/slide" Target="/ppt/slides/slide2.xml" Id="Reccd1bd0d6db4ee7" /><Relationship Type="http://schemas.openxmlformats.org/officeDocument/2006/relationships/slide" Target="/ppt/slides/slide3.xml" Id="R1e061a4afe0f41e5" /><Relationship Type="http://schemas.openxmlformats.org/officeDocument/2006/relationships/slide" Target="/ppt/slides/slide4.xml" Id="R5238a87127c04871" /><Relationship Type="http://schemas.openxmlformats.org/officeDocument/2006/relationships/slide" Target="/ppt/slides/slide5.xml" Id="Rce013149cfd24f3e" /><Relationship Type="http://schemas.openxmlformats.org/officeDocument/2006/relationships/slide" Target="/ppt/slides/slide6.xml" Id="Re47c5d0182a54332" /><Relationship Type="http://schemas.openxmlformats.org/officeDocument/2006/relationships/slide" Target="/ppt/slides/slide7.xml" Id="R5bfb5789983c4c14" /><Relationship Type="http://schemas.openxmlformats.org/officeDocument/2006/relationships/slide" Target="/ppt/slides/slide8.xml" Id="R5bfab186ee544f79" /><Relationship Type="http://schemas.openxmlformats.org/officeDocument/2006/relationships/slide" Target="/ppt/slides/slide9.xml" Id="R0cdf2ba032cf4ca4" /><Relationship Type="http://schemas.openxmlformats.org/officeDocument/2006/relationships/slide" Target="/ppt/slides/slide10.xml" Id="R8964ca21c24a4b4a" /><Relationship Type="http://schemas.openxmlformats.org/officeDocument/2006/relationships/slide" Target="/ppt/slides/slide11.xml" Id="R56538aa49e464bbf" /><Relationship Type="http://schemas.openxmlformats.org/officeDocument/2006/relationships/slide" Target="/ppt/slides/slide12.xml" Id="R97086ea38bea4249" /><Relationship Type="http://schemas.openxmlformats.org/officeDocument/2006/relationships/slide" Target="/ppt/slides/slide13.xml" Id="R78f91c06fbed4111" /><Relationship Type="http://schemas.openxmlformats.org/officeDocument/2006/relationships/slide" Target="/ppt/slides/slide14.xml" Id="Rc77ceb51b8fc4f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ca11df79374b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05015a89f94172" /><Relationship Type="http://schemas.openxmlformats.org/officeDocument/2006/relationships/notesMaster" Target="/ppt/notesMasters/notesMaster1.xml" Id="R1543947afa624b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2d5bd75d7d4298" /><Relationship Type="http://schemas.openxmlformats.org/officeDocument/2006/relationships/notesMaster" Target="/ppt/notesMasters/notesMaster1.xml" Id="Rb60d7918d8f846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d2f878737d4e8b" /><Relationship Type="http://schemas.openxmlformats.org/officeDocument/2006/relationships/notesMaster" Target="/ppt/notesMasters/notesMaster1.xml" Id="R0ce7c35539e245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51bc3eeb564380" /><Relationship Type="http://schemas.openxmlformats.org/officeDocument/2006/relationships/notesMaster" Target="/ppt/notesMasters/notesMaster1.xml" Id="R863b43751aec41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ace31608f3419d" /><Relationship Type="http://schemas.openxmlformats.org/officeDocument/2006/relationships/notesMaster" Target="/ppt/notesMasters/notesMaster1.xml" Id="Rbeadf1daee474c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450e0a64314d97" /><Relationship Type="http://schemas.openxmlformats.org/officeDocument/2006/relationships/notesMaster" Target="/ppt/notesMasters/notesMaster1.xml" Id="Rbf69d3a714bf4f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35694b714d4f03" /><Relationship Type="http://schemas.openxmlformats.org/officeDocument/2006/relationships/notesMaster" Target="/ppt/notesMasters/notesMaster1.xml" Id="R11dbc367153045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e12fcfacc74444" /><Relationship Type="http://schemas.openxmlformats.org/officeDocument/2006/relationships/notesMaster" Target="/ppt/notesMasters/notesMaster1.xml" Id="Rad4f1603c1454c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4ec6b828a8432a" /><Relationship Type="http://schemas.openxmlformats.org/officeDocument/2006/relationships/notesMaster" Target="/ppt/notesMasters/notesMaster1.xml" Id="R374c030f98404d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0277f888034376" /><Relationship Type="http://schemas.openxmlformats.org/officeDocument/2006/relationships/notesMaster" Target="/ppt/notesMasters/notesMaster1.xml" Id="Rd2f61a0697394f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c74d3795534e09" /><Relationship Type="http://schemas.openxmlformats.org/officeDocument/2006/relationships/notesMaster" Target="/ppt/notesMasters/notesMaster1.xml" Id="Rd77b64f3ef8647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556ba6d4ee49e0" /><Relationship Type="http://schemas.openxmlformats.org/officeDocument/2006/relationships/notesMaster" Target="/ppt/notesMasters/notesMaster1.xml" Id="Rd79f7fe639ef48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aecfdd16b824512" /><Relationship Type="http://schemas.openxmlformats.org/officeDocument/2006/relationships/notesMaster" Target="/ppt/notesMasters/notesMaster1.xml" Id="Rab34d772789847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acf460e6e14083" /><Relationship Type="http://schemas.openxmlformats.org/officeDocument/2006/relationships/notesMaster" Target="/ppt/notesMasters/notesMaster1.xml" Id="R706dab3ba27143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Presentamos RepMatch, nuestro trabajo de Desarrollo de Aplicaciones II en UADE. La visión del producto es comparar repuestos automotrices y derivar al vendedor. Esta presentación cubre el TP Inicial y la Primera Parte, con una aplicación funcional de catálogo por compatibilidad. La comparación de ofertas y la IA pertenecen a la siguiente etapa.</a:t>
            </a:r>
          </a:p>
          <a:p xmlns:a="http://schemas.openxmlformats.org/drawingml/2006/main">
            <a:r>
              <a:t/>
            </a:r>
          </a:p>
          <a:p xmlns:a="http://schemas.openxmlformats.org/drawingml/2006/main">
            <a:r>
              <a:t>Fuentes del repositorio:</a:t>
            </a:r>
          </a:p>
          <a:p xmlns:a="http://schemas.openxmlformats.org/drawingml/2006/main">
            <a:r>
              <a:t>C:\Repos\tp-apps-2\README.md</a:t>
            </a:r>
          </a:p>
          <a:p xmlns:a="http://schemas.openxmlformats.org/drawingml/2006/main">
            <a:r>
              <a:t>C:\Repos\tp-apps-2\CLAUDE.md</a:t>
            </a:r>
          </a:p>
          <a:p xmlns:a="http://schemas.openxmlformats.org/drawingml/2006/main">
            <a:r>
              <a:t>C:\Repos\tp-apps-2\status.md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problema es identificar una pieza que sea compatible con el vehículo. Hoy resolvemos el catálogo vehicular, las piezas compatibles y el historial por cliente. El texto del problema se guarda para usuarios registrados, pero no selecciona piezas ni produce un diagnóstico. La visión futura agrega IA, precios de tiendas y comparación de ofertas. RepMatch deriva al vendedor y no administra ventas ni stock.</a:t>
            </a:r>
          </a:p>
          <a:p xmlns:a="http://schemas.openxmlformats.org/drawingml/2006/main">
            <a:r>
              <a:t/>
            </a:r>
          </a:p>
          <a:p xmlns:a="http://schemas.openxmlformats.org/drawingml/2006/main">
            <a:r>
              <a:t>Fuentes del repositorio:</a:t>
            </a:r>
          </a:p>
          <a:p xmlns:a="http://schemas.openxmlformats.org/drawingml/2006/main">
            <a:r>
              <a:t>C:\Repos\tp-apps-2\status.md</a:t>
            </a:r>
          </a:p>
          <a:p xmlns:a="http://schemas.openxmlformats.org/drawingml/2006/main">
            <a:r>
              <a:t>C:\Repos\tp-apps-2\src\RepMatch.Web\Components\Pages\Home.razor</a:t>
            </a:r>
          </a:p>
          <a:p xmlns:a="http://schemas.openxmlformats.org/drawingml/2006/main">
            <a:r>
              <a:t>C:\Repos\tp-apps-2\src\RepMatch.Aplicacion\Eventos\ObservadorCompatibilidad.cs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búsqueda pública funciona sin cuenta. El catálogo ofrece filtros de vehículo y sistema, y también permite listar todas las piezas. Con cuenta, el usuario administra su garage y consulta su historial. El perfil incluye datos de contacto, foto, vehículo predeterminado, contraseña y tema. El vehículo del garage se usa como atajo en el catálogo y en la búsqueda principal.</a:t>
            </a:r>
          </a:p>
          <a:p xmlns:a="http://schemas.openxmlformats.org/drawingml/2006/main">
            <a:r>
              <a:t/>
            </a:r>
          </a:p>
          <a:p xmlns:a="http://schemas.openxmlformats.org/drawingml/2006/main">
            <a:r>
              <a:t>Fuentes del repositorio:</a:t>
            </a:r>
          </a:p>
          <a:p xmlns:a="http://schemas.openxmlformats.org/drawingml/2006/main">
            <a:r>
              <a:t>C:\Repos\tp-apps-2\src\RepMatch.Web\Components\Pages\Home.razor</a:t>
            </a:r>
          </a:p>
          <a:p xmlns:a="http://schemas.openxmlformats.org/drawingml/2006/main">
            <a:r>
              <a:t>C:\Repos\tp-apps-2\src\RepMatch.Web\Components\Pages\Catalogo.razor</a:t>
            </a:r>
          </a:p>
          <a:p xmlns:a="http://schemas.openxmlformats.org/drawingml/2006/main">
            <a:r>
              <a:t>C:\Repos\tp-apps-2\src\RepMatch.Web\Components\Pages\Clientes.razor</a:t>
            </a:r>
          </a:p>
          <a:p xmlns:a="http://schemas.openxmlformats.org/drawingml/2006/main">
            <a:r>
              <a:t>C:\Repos\tp-apps-2\src\RepMatch.Web\Components\Pages\Perfil.razor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la demo usamos la cuenta semilla de Bruno, cuyo vehículo predeterminado es el Gol 2015 1.6. Ingresamos, verificamos que el Gol aparece seleccionado y escribimos un problema de al menos 15 caracteres, por ejemplo: escucho un ruido al frenar desde ayer. El usuario pulsa buscar. La aplicación valida el vehículo, guarda la búsqueda, asigna códigos compatibles y devuelve las fichas de piezas. El texto se guarda como contexto, pero no restringe el resultado al sistema de frenos. El historial se actualiza para el cliente actual.</a:t>
            </a:r>
          </a:p>
          <a:p xmlns:a="http://schemas.openxmlformats.org/drawingml/2006/main">
            <a:r>
              <a:t/>
            </a:r>
          </a:p>
          <a:p xmlns:a="http://schemas.openxmlformats.org/drawingml/2006/main">
            <a:r>
              <a:t>Fuentes del repositorio:</a:t>
            </a:r>
          </a:p>
          <a:p xmlns:a="http://schemas.openxmlformats.org/drawingml/2006/main">
            <a:r>
              <a:t>C:\Repos\tp-apps-2\src\RepMatch.Persistence\DatosSemilla.cs</a:t>
            </a:r>
          </a:p>
          <a:p xmlns:a="http://schemas.openxmlformats.org/drawingml/2006/main">
            <a:r>
              <a:t>C:\Repos\tp-apps-2\src\RepMatch.Web\Components\Pages\Home.razor</a:t>
            </a:r>
          </a:p>
          <a:p xmlns:a="http://schemas.openxmlformats.org/drawingml/2006/main">
            <a:r>
              <a:t>C:\Repos\tp-apps-2\src\RepMatch.Aplicacion\Fachada\FachadaAplicacion.cs</a:t>
            </a:r>
          </a:p>
          <a:p xmlns:a="http://schemas.openxmlformats.org/drawingml/2006/main">
            <a:r>
              <a:t>C:\Repos\tp-apps-2\src\RepMatch.Aplicacion\Servicios\ServicioBusquedas.cs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Estos ejemplos salen de los datos semilla del catálogo. Las pastillas delanteras usan el código canónico PAST-VW-GOL-DEL y equivalencias OEM y de fabricante. El filtro de aceite tiene una aplicación específica al motor 1.6. La bomba de agua también pertenece a ese motor. Las fichas muestran nombre, descripción, sistema, aplicaciones y equivalencias. La búsqueda principal devuelve todas las piezas compatibles, mientras que el catálogo permite restringir por sistema. En esta etapa no hay precios ni ofertas capturadas de tiendas.</a:t>
            </a:r>
          </a:p>
          <a:p xmlns:a="http://schemas.openxmlformats.org/drawingml/2006/main">
            <a:r>
              <a:t/>
            </a:r>
          </a:p>
          <a:p xmlns:a="http://schemas.openxmlformats.org/drawingml/2006/main">
            <a:r>
              <a:t>Fuentes del repositorio:</a:t>
            </a:r>
          </a:p>
          <a:p xmlns:a="http://schemas.openxmlformats.org/drawingml/2006/main">
            <a:r>
              <a:t>C:\Repos\tp-apps-2\src\RepMatch.Persistence\DatosSemilla.cs</a:t>
            </a:r>
          </a:p>
          <a:p xmlns:a="http://schemas.openxmlformats.org/drawingml/2006/main">
            <a:r>
              <a:t>C:\Repos\tp-apps-2\src\RepMatch.Web\Components\TarjetaRepuesto.razor</a:t>
            </a:r>
          </a:p>
          <a:p xmlns:a="http://schemas.openxmlformats.org/drawingml/2006/main">
            <a:r>
              <a:t>C:\Repos\tp-apps-2\src\RepMatch.Aplicacion\Catalogo\CatalogoLocal.cs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visitante puede consultar un Peugeot 208 2019 1.6 sin registrarse. El formulario pide detalle del problema, pero esta consulta no envía ni persiste ese texto. Un usuario que conoce el sistema entra al catálogo y filtra un Gol por Frenos, lo que muestra las pastillas y los discos compatibles. Un cliente registrado puede agregar un Toyota Corolla 2018 1.8 al garage, asignarle un alias y usarlo después en sus búsquedas. La app verifica que la configuración exista y rechaza vehículos repetidos en el mismo garage.</a:t>
            </a:r>
          </a:p>
          <a:p xmlns:a="http://schemas.openxmlformats.org/drawingml/2006/main">
            <a:r>
              <a:t/>
            </a:r>
          </a:p>
          <a:p xmlns:a="http://schemas.openxmlformats.org/drawingml/2006/main">
            <a:r>
              <a:t>Fuentes del repositorio:</a:t>
            </a:r>
          </a:p>
          <a:p xmlns:a="http://schemas.openxmlformats.org/drawingml/2006/main">
            <a:r>
              <a:t>C:\Repos\tp-apps-2\src\RepMatch.Web\Components\Pages\Home.razor</a:t>
            </a:r>
          </a:p>
          <a:p xmlns:a="http://schemas.openxmlformats.org/drawingml/2006/main">
            <a:r>
              <a:t>C:\Repos\tp-apps-2\src\RepMatch.Web\Components\Pages\Catalogo.razor</a:t>
            </a:r>
          </a:p>
          <a:p xmlns:a="http://schemas.openxmlformats.org/drawingml/2006/main">
            <a:r>
              <a:t>C:\Repos\tp-apps-2\src\RepMatch.Web\Components\Pages\Clientes.razor</a:t>
            </a:r>
          </a:p>
          <a:p xmlns:a="http://schemas.openxmlformats.org/drawingml/2006/main">
            <a:r>
              <a:t>C:\Repos\tp-apps-2\src\RepMatch.Aplicacion\Servicios\ServicioClientes.cs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validaciones están repartidas por responsabilidad. La interfaz verifica la selección y la extensión mínima del texto. Los servicios validan DTOs y existencia de clientes o configuraciones. El dominio protege invariantes como vehículo duplicado y años permitidos. Si no hay compatibles, la búsqueda registrada pasa a Fallida. Si el catálogo falla dentro del observador, la app guarda una falla y confirma el cambio. Un fallo en una consulta posterior de la fachada puede mostrar un error aunque la búsqueda ya esté guardada. Evitamos prometer que todos los errores borran o revierten la búsqueda.</a:t>
            </a:r>
          </a:p>
          <a:p xmlns:a="http://schemas.openxmlformats.org/drawingml/2006/main">
            <a:r>
              <a:t/>
            </a:r>
          </a:p>
          <a:p xmlns:a="http://schemas.openxmlformats.org/drawingml/2006/main">
            <a:r>
              <a:t>Fuentes del repositorio:</a:t>
            </a:r>
          </a:p>
          <a:p xmlns:a="http://schemas.openxmlformats.org/drawingml/2006/main">
            <a:r>
              <a:t>C:\Repos\tp-apps-2\src\RepMatch.Web\Components\Pages\Home.razor</a:t>
            </a:r>
          </a:p>
          <a:p xmlns:a="http://schemas.openxmlformats.org/drawingml/2006/main">
            <a:r>
              <a:t>C:\Repos\tp-apps-2\src\RepMatch.Aplicacion\Servicios\ServicioClientes.cs</a:t>
            </a:r>
          </a:p>
          <a:p xmlns:a="http://schemas.openxmlformats.org/drawingml/2006/main">
            <a:r>
              <a:t>C:\Repos\tp-apps-2\src\RepMatch.Domain\Entidades\Cliente.cs</a:t>
            </a:r>
          </a:p>
          <a:p xmlns:a="http://schemas.openxmlformats.org/drawingml/2006/main">
            <a:r>
              <a:t>C:\Repos\tp-apps-2\src\RepMatch.Aplicacion\Eventos\ObservadorCompatibilidad.cs</a:t>
            </a:r>
          </a:p>
          <a:p xmlns:a="http://schemas.openxmlformats.org/drawingml/2006/main">
            <a:r>
              <a:t>C:\Repos\tp-apps-2\src\RepMatch.Aplicacion\Fachada\FachadaAplicacion.cs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Web utiliza la fachada para las operaciones de negocio. La excepción deliberada es SelectorVehiculo, que consulta ICatalogoVehiculos para cargar sus opciones. La aplicación coordina servicios y eventos. Las entidades y las interfaces de repositorio viven en Domain. Persistence implementa esos contratos con EF Core. El dominio no referencia EF Core ni ASP.NET. Contracts contiene los DTOs y los contratos de catálogo. Common concentra configuración, validación y logging.</a:t>
            </a:r>
          </a:p>
          <a:p xmlns:a="http://schemas.openxmlformats.org/drawingml/2006/main">
            <a:r>
              <a:t/>
            </a:r>
          </a:p>
          <a:p xmlns:a="http://schemas.openxmlformats.org/drawingml/2006/main">
            <a:r>
              <a:t>Fuentes del repositorio:</a:t>
            </a:r>
          </a:p>
          <a:p xmlns:a="http://schemas.openxmlformats.org/drawingml/2006/main">
            <a:r>
              <a:t>C:\Repos\tp-apps-2\docs\diagramas\capas.md</a:t>
            </a:r>
          </a:p>
          <a:p xmlns:a="http://schemas.openxmlformats.org/drawingml/2006/main">
            <a:r>
              <a:t>C:\Repos\tp-apps-2\src\RepMatch.Web\Components\SelectorVehiculo.razor</a:t>
            </a:r>
          </a:p>
          <a:p xmlns:a="http://schemas.openxmlformats.org/drawingml/2006/main">
            <a:r>
              <a:t>C:\Repos\tp-apps-2\src\RepMatch.Aplicacion\Fachada\FachadaAplicacion.cs</a:t>
            </a:r>
          </a:p>
          <a:p xmlns:a="http://schemas.openxmlformats.org/drawingml/2006/main">
            <a:r>
              <a:t>C:\Repos\tp-apps-2\src\RepMatch.Persistence\RepMatch.Persistence.csproj</a:t>
            </a:r>
          </a:p>
          <a:p xmlns:a="http://schemas.openxmlformats.org/drawingml/2006/main">
            <a:r>
              <a:t>C:\Repos\tp-apps-2\src\RepMatch.Domain\RepMatch.Domain.csproj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ICatalogoRepuestos es el contrato que usan la fachada y el observador. En modo Local se enlaza con CatalogoLocal dentro del proceso. En modo Remoto se enlaza con CatalogoRemoto, un HttpClient tipado que llama a la API. La API resuelve siempre CatalogoLocal. FabricaCatalogo elige el modo en el arranque mediante Catalogo:Modo y registra ambos concretos. ICatalogoVehiculos tiene el mismo par local y remoto. Esto aplica Factory, Strategy y Adapter sin modificar a los consumidores.</a:t>
            </a:r>
          </a:p>
          <a:p xmlns:a="http://schemas.openxmlformats.org/drawingml/2006/main">
            <a:r>
              <a:t/>
            </a:r>
          </a:p>
          <a:p xmlns:a="http://schemas.openxmlformats.org/drawingml/2006/main">
            <a:r>
              <a:t>Fuentes del repositorio:</a:t>
            </a:r>
          </a:p>
          <a:p xmlns:a="http://schemas.openxmlformats.org/drawingml/2006/main">
            <a:r>
              <a:t>C:\Repos\tp-apps-2\src\RepMatch.Web\Servicios\FabricaCatalogo.cs</a:t>
            </a:r>
          </a:p>
          <a:p xmlns:a="http://schemas.openxmlformats.org/drawingml/2006/main">
            <a:r>
              <a:t>C:\Repos\tp-apps-2\src\RepMatch.Clientes.Rest\CatalogoRemoto.cs</a:t>
            </a:r>
          </a:p>
          <a:p xmlns:a="http://schemas.openxmlformats.org/drawingml/2006/main">
            <a:r>
              <a:t>C:\Repos\tp-apps-2\src\RepMatch.Catalogo.Api\Program.cs</a:t>
            </a:r>
          </a:p>
          <a:p xmlns:a="http://schemas.openxmlformats.org/drawingml/2006/main">
            <a:r>
              <a:t>C:\Repos\tp-apps-2\docs\patrones.md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ServicioBusquedas construye la entidad, copia sus eventos pendientes y guarda la búsqueda primero. Después limpia el buzón y despacha BusquedaCreada. DespachadorEventos selecciona al observador compatible. ObservadorCompatibilidad lee la búsqueda, consulta el catálogo y asigna los códigos objetivo. Si encuentra piezas, el estado pasa de Pendiente a Diagnosticada. Si no encuentra o falla el catálogo, pasa a Fallida. El observador confirma los cambios. Finalmente, la fachada obtiene las piezas completas para mostrarlas. El evento de esta entrega se procesa dentro del proceso, sin cola RabbitMQ.</a:t>
            </a:r>
          </a:p>
          <a:p xmlns:a="http://schemas.openxmlformats.org/drawingml/2006/main">
            <a:r>
              <a:t/>
            </a:r>
          </a:p>
          <a:p xmlns:a="http://schemas.openxmlformats.org/drawingml/2006/main">
            <a:r>
              <a:t>Fuentes del repositorio:</a:t>
            </a:r>
          </a:p>
          <a:p xmlns:a="http://schemas.openxmlformats.org/drawingml/2006/main">
            <a:r>
              <a:t>C:\Repos\tp-apps-2\src\RepMatch.Aplicacion\Servicios\ServicioBusquedas.cs</a:t>
            </a:r>
          </a:p>
          <a:p xmlns:a="http://schemas.openxmlformats.org/drawingml/2006/main">
            <a:r>
              <a:t>C:\Repos\tp-apps-2\src\RepMatch.Aplicacion\Eventos\DespachadorEventos.cs</a:t>
            </a:r>
          </a:p>
          <a:p xmlns:a="http://schemas.openxmlformats.org/drawingml/2006/main">
            <a:r>
              <a:t>C:\Repos\tp-apps-2\src\RepMatch.Aplicacion\Eventos\ObservadorCompatibilidad.cs</a:t>
            </a:r>
          </a:p>
          <a:p xmlns:a="http://schemas.openxmlformats.org/drawingml/2006/main">
            <a:r>
              <a:t>C:\Repos\tp-apps-2\src\RepMatch.Domain\Entidades\Busqueda.cs</a:t>
            </a:r>
          </a:p>
          <a:p xmlns:a="http://schemas.openxmlformats.org/drawingml/2006/main">
            <a:r>
              <a:t>C:\Repos\tp-apps-2\docs\diagramas\secuencia.md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patrón resuelve un problema concreto. Factory concentra la elección del catálogo en el arranque. Strategy hace intercambiables los accesos local y remoto. Repository evita que las entidades conozcan el motor de datos, y Unit of Work confirma cambios. Observer desacopla el procesamiento posterior de BusquedaCreada. Facade coordina operaciones de clientes, búsquedas y catálogo para la presentación. CatalogoRemoto además actúa como Adapter del contrato HTTP.</a:t>
            </a:r>
          </a:p>
          <a:p xmlns:a="http://schemas.openxmlformats.org/drawingml/2006/main">
            <a:r>
              <a:t/>
            </a:r>
          </a:p>
          <a:p xmlns:a="http://schemas.openxmlformats.org/drawingml/2006/main">
            <a:r>
              <a:t>Fuentes del repositorio:</a:t>
            </a:r>
          </a:p>
          <a:p xmlns:a="http://schemas.openxmlformats.org/drawingml/2006/main">
            <a:r>
              <a:t>C:\Repos\tp-apps-2\docs\patrones.md</a:t>
            </a:r>
          </a:p>
          <a:p xmlns:a="http://schemas.openxmlformats.org/drawingml/2006/main">
            <a:r>
              <a:t>C:\Repos\tp-apps-2\src\RepMatch.Web\Servicios\FabricaCatalogo.cs</a:t>
            </a:r>
          </a:p>
          <a:p xmlns:a="http://schemas.openxmlformats.org/drawingml/2006/main">
            <a:r>
              <a:t>C:\Repos\tp-apps-2\src\RepMatch.Aplicacion\Fachada\FachadaAplicacion.cs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Docker Compose levanta Web, API de catálogo y PostgreSQL en una red bridge. La Web se publica en el puerto 8080 y la API en el 8081 del host, aunque ambas aplicaciones usan el 8080 dentro de su contenedor. Web y API acceden a PostgreSQL. El modo por defecto de la Web es Remoto, con http://catalogo-api:8080 como URL interna. Los volúmenes guardan la base y las claves de Data Protection. El perfil local permite demostrar el camino directo desde otra instancia de la Web en el puerto 8090.</a:t>
            </a:r>
          </a:p>
          <a:p xmlns:a="http://schemas.openxmlformats.org/drawingml/2006/main">
            <a:r>
              <a:t/>
            </a:r>
          </a:p>
          <a:p xmlns:a="http://schemas.openxmlformats.org/drawingml/2006/main">
            <a:r>
              <a:t>Fuentes del repositorio:</a:t>
            </a:r>
          </a:p>
          <a:p xmlns:a="http://schemas.openxmlformats.org/drawingml/2006/main">
            <a:r>
              <a:t>C:\Repos\tp-apps-2\docker-compose.yml</a:t>
            </a:r>
          </a:p>
          <a:p xmlns:a="http://schemas.openxmlformats.org/drawingml/2006/main">
            <a:r>
              <a:t>C:\Repos\tp-apps-2\docs\diagramas\despliegue.md</a:t>
            </a:r>
          </a:p>
          <a:p xmlns:a="http://schemas.openxmlformats.org/drawingml/2006/main">
            <a:r>
              <a:t>C:\Repos\tp-apps-2\src\RepMatch.Web\Servicios\ExtensionesProteccionDatos.cs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 el entorno ya iniciado, comenzamos en localhost:8080 con una búsqueda pública para el Gol 2015 1.6. Luego ingresamos con la cuenta semilla cuenta de demo y una contraseña configurada en el entorno de laboratorio. Mostramos el garage y el vehículo predeterminado. Ejecutamos una búsqueda con una descripción suficiente y mostramos las piezas y el historial propio. En el catálogo filtramos por Frenos para mostrar un resultado distinto. Cerramos enseñando /salud y /openapi/v1.json en la API, y la evidencia de acceso local o remoto disponible en /evidencia/catalogo. La última ejecución de pruebas registrada en status.md, del 11 de octubre de 2026, informa 84 pruebas aprobadas. </a:t>
            </a:r>
          </a:p>
          <a:p xmlns:a="http://schemas.openxmlformats.org/drawingml/2006/main">
            <a:r>
              <a:t/>
            </a:r>
          </a:p>
          <a:p xmlns:a="http://schemas.openxmlformats.org/drawingml/2006/main">
            <a:r>
              <a:t>Fuentes del repositorio:</a:t>
            </a:r>
          </a:p>
          <a:p xmlns:a="http://schemas.openxmlformats.org/drawingml/2006/main">
            <a:r>
              <a:t>C:\Repos\tp-apps-2\src\RepMatch.Persistence\DatosSemilla.cs</a:t>
            </a:r>
          </a:p>
          <a:p xmlns:a="http://schemas.openxmlformats.org/drawingml/2006/main">
            <a:r>
              <a:t>C:\Repos\tp-apps-2\status.md</a:t>
            </a:r>
          </a:p>
          <a:p xmlns:a="http://schemas.openxmlformats.org/drawingml/2006/main">
            <a:r>
              <a:t>C:\Repos\tp-apps-2\src\RepMatch.Web\Program.cs</a:t>
            </a:r>
          </a:p>
          <a:p xmlns:a="http://schemas.openxmlformats.org/drawingml/2006/main">
            <a:r>
              <a:t>C:\Repos\tp-apps-2\src\RepMatch.Catalogo.Api\Program.cs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TP Inicial y la Primera Parte están implementados: componentes, arquitectura en capas, acceso local y remoto y patrones. La última verificación documentada informa 84 pruebas aprobadas y un build sin advertencias. Para la Segunda Parte se prevén SOAP, productores y consumidores RabbitMQ, fuentes externas de ofertas y el componente de IA. El diseño permite extender el contrato de catálogo con otra estrategia y reemplazar el despacho actual por una publicación a cola. La visión final es un comparador de ofertas con diagnóstico, preservando la derivación al vendedor.</a:t>
            </a:r>
          </a:p>
          <a:p xmlns:a="http://schemas.openxmlformats.org/drawingml/2006/main">
            <a:r>
              <a:t/>
            </a:r>
          </a:p>
          <a:p xmlns:a="http://schemas.openxmlformats.org/drawingml/2006/main">
            <a:r>
              <a:t>Fuentes del repositorio:</a:t>
            </a:r>
          </a:p>
          <a:p xmlns:a="http://schemas.openxmlformats.org/drawingml/2006/main">
            <a:r>
              <a:t>C:\Repos\tp-apps-2\status.md</a:t>
            </a:r>
          </a:p>
          <a:p xmlns:a="http://schemas.openxmlformats.org/drawingml/2006/main">
            <a:r>
              <a:t>C:\Repos\tp-apps-2\CLAUDE.md</a:t>
            </a:r>
          </a:p>
          <a:p xmlns:a="http://schemas.openxmlformats.org/drawingml/2006/main">
            <a:r>
              <a:t>C:\Repos\tp-apps-2\docs\diagramas\despliegue.md</a:t>
            </a:r>
          </a:p>
          <a:p xmlns:a="http://schemas.openxmlformats.org/drawingml/2006/main">
            <a:r>
              <a:t>C:\Repos\tp-apps-2\docs\informe-arquitectura.md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1f466f83bb460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d7a9ab74e948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124304ecbcc4f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9a41e80b044d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f3cffb9a8642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08b80c27594a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9489A4-B8B4-40EA-BD39-A4A8809B6A0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86D52D7-ADAF-4589-8927-ABE1E9812B5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7CE6EB-3546-4914-9240-C5719296D7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D4CC9C-BA96-40A5-959F-CE0A6658DC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1F7B250-C570-4CEC-8FF0-78FBBB16B8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E380343-A9D2-4708-A462-52BFC34C65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E4F605-8B54-4AE3-B850-EFC86830CB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470B62-E71B-4B44-929A-E84539BE66B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6D0772-0CBA-43F4-A513-34B0A464D4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25A5B5-9380-47E4-9425-BA77E702A2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9298fe01274bb7" /><Relationship Type="http://schemas.openxmlformats.org/officeDocument/2006/relationships/slideLayout" Target="/ppt/slideLayouts/slideLayout1.xml" Id="Rf26052f4e621480d" /><Relationship Type="http://schemas.openxmlformats.org/officeDocument/2006/relationships/slideLayout" Target="/ppt/slideLayouts/slideLayout2.xml" Id="Rd8ac1d99e1d045eb" /><Relationship Type="http://schemas.openxmlformats.org/officeDocument/2006/relationships/slideLayout" Target="/ppt/slideLayouts/slideLayout3.xml" Id="R51c5aaf1397341b1" /><Relationship Type="http://schemas.openxmlformats.org/officeDocument/2006/relationships/slideLayout" Target="/ppt/slideLayouts/slideLayout4.xml" Id="Rb81fdbc52d704d56" /><Relationship Type="http://schemas.openxmlformats.org/officeDocument/2006/relationships/slideLayout" Target="/ppt/slideLayouts/slideLayout5.xml" Id="R7d25e34bb8174835" /><Relationship Type="http://schemas.openxmlformats.org/officeDocument/2006/relationships/slideLayout" Target="/ppt/slideLayouts/slideLayout6.xml" Id="R351ba94f12814b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6052f4e621480d"/>
    <p:sldLayoutId xmlns:r="http://schemas.openxmlformats.org/officeDocument/2006/relationships" id="2147483650" r:id="Rd8ac1d99e1d045eb"/>
    <p:sldLayoutId xmlns:r="http://schemas.openxmlformats.org/officeDocument/2006/relationships" id="2147483651" r:id="R51c5aaf1397341b1"/>
    <p:sldLayoutId xmlns:r="http://schemas.openxmlformats.org/officeDocument/2006/relationships" id="2147483652" r:id="Rb81fdbc52d704d56"/>
    <p:sldLayoutId xmlns:r="http://schemas.openxmlformats.org/officeDocument/2006/relationships" id="2147483653" r:id="R7d25e34bb8174835"/>
    <p:sldLayoutId xmlns:r="http://schemas.openxmlformats.org/officeDocument/2006/relationships" id="2147483654" r:id="R351ba94f12814b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cdc5231a6346a4" /><Relationship Type="http://schemas.openxmlformats.org/officeDocument/2006/relationships/image" Target="/ppt/media/image.png" Id="R6a664c5feb2947f6" /><Relationship Type="http://schemas.openxmlformats.org/officeDocument/2006/relationships/notesSlide" Target="/ppt/notesSlides/notesSlide1.xml" Id="R0129f48e2f1642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a14d79a175b46b9" /><Relationship Type="http://schemas.openxmlformats.org/officeDocument/2006/relationships/notesSlide" Target="/ppt/notesSlides/notesSlide2.xml" Id="R1c7367567b3840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74ebc4d833d4ed2" /><Relationship Type="http://schemas.openxmlformats.org/officeDocument/2006/relationships/notesSlide" Target="/ppt/notesSlides/notesSlide3.xml" Id="R63ea90c37ec649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7107af0e06f4940" /><Relationship Type="http://schemas.openxmlformats.org/officeDocument/2006/relationships/notesSlide" Target="/ppt/notesSlides/notesSlide4.xml" Id="Rbcc994baa5e64a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4b886d3b42541a1" /><Relationship Type="http://schemas.openxmlformats.org/officeDocument/2006/relationships/notesSlide" Target="/ppt/notesSlides/notesSlide5.xml" Id="Rc66921e7ee6f41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787e535f21f4913" /><Relationship Type="http://schemas.openxmlformats.org/officeDocument/2006/relationships/notesSlide" Target="/ppt/notesSlides/notesSlide6.xml" Id="R25ecc0b5351e42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bf7b710c854667" /><Relationship Type="http://schemas.openxmlformats.org/officeDocument/2006/relationships/notesSlide" Target="/ppt/notesSlides/notesSlide7.xml" Id="R903f84d6f9d841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9e43d9978a46a6" /><Relationship Type="http://schemas.openxmlformats.org/officeDocument/2006/relationships/notesSlide" Target="/ppt/notesSlides/notesSlide8.xml" Id="Rd451675692cf45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3176ab2e3d5462b" /><Relationship Type="http://schemas.openxmlformats.org/officeDocument/2006/relationships/notesSlide" Target="/ppt/notesSlides/notesSlide9.xml" Id="Rf7d7c310ce8149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95fb36cc07648bf" /><Relationship Type="http://schemas.openxmlformats.org/officeDocument/2006/relationships/notesSlide" Target="/ppt/notesSlides/notesSlide10.xml" Id="Ra47f4c914ee64e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5771591faf94c14" /><Relationship Type="http://schemas.openxmlformats.org/officeDocument/2006/relationships/notesSlide" Target="/ppt/notesSlides/notesSlide11.xml" Id="Rf2618c91923f4a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4e38ce2edb14fbc" /><Relationship Type="http://schemas.openxmlformats.org/officeDocument/2006/relationships/notesSlide" Target="/ppt/notesSlides/notesSlide12.xml" Id="Ra49b146932c741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6506d0cb7784e53" /><Relationship Type="http://schemas.openxmlformats.org/officeDocument/2006/relationships/notesSlide" Target="/ppt/notesSlides/notesSlide13.xml" Id="R1550ef8fbdeb41a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c4db179054d419d" /><Relationship Type="http://schemas.openxmlformats.org/officeDocument/2006/relationships/notesSlide" Target="/ppt/notesSlides/notesSlide14.xml" Id="R644bfd314aad407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pMatch">
            <a:extLst xmlns:a="http://schemas.openxmlformats.org/drawingml/2006/main">
              <a:ext uri="{FF2B5EF4-FFF2-40B4-BE49-F238E27FC236}">
                <a16:creationId xmlns:a16="http://schemas.microsoft.com/office/drawing/2014/main" id="{FAA5C554-0D99-421B-9A1A-D7541B745696}"/>
              </a:ext>
            </a:extLst>
          </p:cNvPr>
          <p:cNvSpPr>
            <a:spLocks xmlns:a="http://schemas.openxmlformats.org/drawingml/2006/main" noGrp="1"/>
          </p:cNvSpPr>
          <p:nvPr/>
        </p:nvSpPr>
        <p:spPr>
          <a:xfrm xmlns:a="http://schemas.openxmlformats.org/drawingml/2006/main">
            <a:off x="609600" y="1809750"/>
            <a:ext cx="828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6150" b="1">
                <a:solidFill>
                  <a:srgbClr val="1F4F8F"/>
                </a:solidFill>
                <a:latin typeface="Arial"/>
                <a:ea typeface="Arial"/>
                <a:cs typeface="Arial"/>
              </a:defRPr>
            </a:defPPr>
          </a:lstStyle>
          <a:p xmlns:a="http://schemas.openxmlformats.org/drawingml/2006/main">
            <a:pPr algn="l">
              <a:defRPr sz="6150" b="1">
                <a:solidFill>
                  <a:srgbClr val="1F4F8F"/>
                </a:solidFill>
                <a:latin typeface="Arial"/>
                <a:ea typeface="Arial"/>
                <a:cs typeface="Arial"/>
              </a:defRPr>
            </a:pPr>
            <a:r>
              <a:rPr sz="6150" b="1">
                <a:solidFill>
                  <a:srgbClr val="1F4F8F"/>
                </a:solidFill>
                <a:latin typeface="Arial"/>
                <a:ea typeface="Arial"/>
                <a:cs typeface="Arial"/>
              </a:rPr>
              <a:t>RepMatch</a:t>
            </a:r>
          </a:p>
        </p:txBody>
      </p:sp>
      <p:sp>
        <p:nvSpPr>
          <p:cNvPr id="2" name="01">
            <a:extLst xmlns:a="http://schemas.openxmlformats.org/drawingml/2006/main">
              <a:ext uri="{FF2B5EF4-FFF2-40B4-BE49-F238E27FC236}">
                <a16:creationId xmlns:a16="http://schemas.microsoft.com/office/drawing/2014/main" id="{0EA0ECB0-616B-4BD1-81C7-C12FF3E6FFEC}"/>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01</a:t>
            </a:r>
          </a:p>
        </p:txBody>
      </p:sp>
      <p:sp>
        <p:nvSpPr>
          <p:cNvPr id="3" name="Búsqueda de repuestos por compatibilidad">
            <a:extLst xmlns:a="http://schemas.openxmlformats.org/drawingml/2006/main">
              <a:ext uri="{FF2B5EF4-FFF2-40B4-BE49-F238E27FC236}">
                <a16:creationId xmlns:a16="http://schemas.microsoft.com/office/drawing/2014/main" id="{B116D40B-B399-450A-9A49-4B1148E871B6}"/>
              </a:ext>
            </a:extLst>
          </p:cNvPr>
          <p:cNvSpPr>
            <a:spLocks xmlns:a="http://schemas.openxmlformats.org/drawingml/2006/main" noGrp="1"/>
          </p:cNvSpPr>
          <p:nvPr/>
        </p:nvSpPr>
        <p:spPr>
          <a:xfrm xmlns:a="http://schemas.openxmlformats.org/drawingml/2006/main">
            <a:off x="647700" y="3076575"/>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850" b="0">
                <a:solidFill>
                  <a:srgbClr val="15334F"/>
                </a:solidFill>
                <a:latin typeface="Arial"/>
                <a:ea typeface="Arial"/>
                <a:cs typeface="Arial"/>
              </a:defRPr>
            </a:defPPr>
          </a:lstStyle>
          <a:p xmlns:a="http://schemas.openxmlformats.org/drawingml/2006/main">
            <a:pPr algn="l">
              <a:defRPr sz="2850" b="0">
                <a:solidFill>
                  <a:srgbClr val="15334F"/>
                </a:solidFill>
                <a:latin typeface="Arial"/>
                <a:ea typeface="Arial"/>
                <a:cs typeface="Arial"/>
              </a:defRPr>
            </a:pPr>
            <a:r>
              <a:rPr sz="2850" b="0">
                <a:solidFill>
                  <a:srgbClr val="15334F"/>
                </a:solidFill>
                <a:latin typeface="Arial"/>
                <a:ea typeface="Arial"/>
                <a:cs typeface="Arial"/>
              </a:rPr>
              <a:t>Búsqueda de repuestos por compatibilidad</a:t>
            </a:r>
          </a:p>
        </p:txBody>
      </p:sp>
      <p:sp>
        <p:nvSpPr>
          <p:cNvPr id="4" name="Desarrollo de Aplicaciones II&#10;UADE&#10;TP In">
            <a:extLst xmlns:a="http://schemas.openxmlformats.org/drawingml/2006/main">
              <a:ext uri="{FF2B5EF4-FFF2-40B4-BE49-F238E27FC236}">
                <a16:creationId xmlns:a16="http://schemas.microsoft.com/office/drawing/2014/main" id="{FF9EFF32-046E-4700-95A7-AA7E130E6C98}"/>
              </a:ext>
            </a:extLst>
          </p:cNvPr>
          <p:cNvSpPr>
            <a:spLocks xmlns:a="http://schemas.openxmlformats.org/drawingml/2006/main" noGrp="1"/>
          </p:cNvSpPr>
          <p:nvPr/>
        </p:nvSpPr>
        <p:spPr>
          <a:xfrm xmlns:a="http://schemas.openxmlformats.org/drawingml/2006/main">
            <a:off x="647700" y="4581525"/>
            <a:ext cx="857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53697A"/>
                </a:solidFill>
                <a:latin typeface="Arial"/>
                <a:ea typeface="Arial"/>
                <a:cs typeface="Arial"/>
              </a:defRPr>
            </a:defPPr>
          </a:lstStyle>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Desarrollo de Aplicaciones II</a:t>
            </a:r>
          </a:p>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UADE</a:t>
            </a:r>
          </a:p>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TP Inicial y Primera Parte</a:t>
            </a:r>
          </a:p>
        </p:txBody>
      </p:sp>
      <p:pic>
        <p:nvPicPr>
          <p:cNvPr id="5" name="">
            <a:extLst xmlns:a="http://schemas.openxmlformats.org/drawingml/2006/main">
              <a:ext uri="{FF2B5EF4-FFF2-40B4-BE49-F238E27FC236}">
                <a16:creationId xmlns:a16="http://schemas.microsoft.com/office/drawing/2014/main" id="{346796D4-203C-43CA-AFF1-CD4A072E5B9D}"/>
              </a:ext>
            </a:extLst>
          </p:cNvPr>
          <p:cNvPicPr>
            <a:picLocks xmlns:a="http://schemas.openxmlformats.org/drawingml/2006/main" noChangeAspect="1"/>
          </p:cNvPicPr>
          <p:nvPr/>
        </p:nvPicPr>
        <p:blipFill>
          <a:blip xmlns:r="http://schemas.openxmlformats.org/officeDocument/2006/relationships" xmlns:a="http://schemas.openxmlformats.org/drawingml/2006/main" r:embed="R6a664c5feb2947f6"/>
          <a:stretch xmlns:a="http://schemas.openxmlformats.org/drawingml/2006/main"/>
        </p:blipFill>
        <p:spPr>
          <a:xfrm xmlns:a="http://schemas.openxmlformats.org/drawingml/2006/main">
            <a:off x="9620250" y="1790700"/>
            <a:ext cx="1619250" cy="1619250"/>
          </a:xfrm>
          <a:prstGeom xmlns:a="http://schemas.openxmlformats.org/drawingml/2006/main" prst="rect">
            <a:avLst/>
          </a:prstGeom>
        </p:spPr>
      </p:pic>
    </p:spTree>
    <p:extLst>
      <p:ext uri="{BB962C8B-B14F-4D97-AF65-F5344CB8AC3E}">
        <p14:creationId xmlns:p14="http://schemas.microsoft.com/office/powerpoint/2010/main" val="8920614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lcance de la aplicación">
            <a:extLst xmlns:a="http://schemas.openxmlformats.org/drawingml/2006/main">
              <a:ext uri="{FF2B5EF4-FFF2-40B4-BE49-F238E27FC236}">
                <a16:creationId xmlns:a16="http://schemas.microsoft.com/office/drawing/2014/main" id="{AF324B66-5026-48FC-9BEA-94722BA9584B}"/>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5334F"/>
                </a:solidFill>
                <a:latin typeface="Arial"/>
                <a:ea typeface="Arial"/>
                <a:cs typeface="Arial"/>
              </a:defRPr>
            </a:defPPr>
          </a:lstStyle>
          <a:p xmlns:a="http://schemas.openxmlformats.org/drawingml/2006/main">
            <a:pPr algn="l">
              <a:defRPr sz="3300" b="1">
                <a:solidFill>
                  <a:srgbClr val="15334F"/>
                </a:solidFill>
                <a:latin typeface="Arial"/>
                <a:ea typeface="Arial"/>
                <a:cs typeface="Arial"/>
              </a:defRPr>
            </a:pPr>
            <a:r>
              <a:rPr sz="3300" b="1">
                <a:solidFill>
                  <a:srgbClr val="15334F"/>
                </a:solidFill>
                <a:latin typeface="Arial"/>
                <a:ea typeface="Arial"/>
                <a:cs typeface="Arial"/>
              </a:rPr>
              <a:t>Alcance de la aplicación</a:t>
            </a:r>
          </a:p>
        </p:txBody>
      </p:sp>
      <p:sp>
        <p:nvSpPr>
          <p:cNvPr id="2" name="02">
            <a:extLst xmlns:a="http://schemas.openxmlformats.org/drawingml/2006/main">
              <a:ext uri="{FF2B5EF4-FFF2-40B4-BE49-F238E27FC236}">
                <a16:creationId xmlns:a16="http://schemas.microsoft.com/office/drawing/2014/main" id="{55212056-DE7E-4EAE-B6B0-120813E326AA}"/>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02</a:t>
            </a:r>
          </a:p>
        </p:txBody>
      </p:sp>
      <p:sp>
        <p:nvSpPr>
          <p:cNvPr id="3" name="Hoy">
            <a:extLst xmlns:a="http://schemas.openxmlformats.org/drawingml/2006/main">
              <a:ext uri="{FF2B5EF4-FFF2-40B4-BE49-F238E27FC236}">
                <a16:creationId xmlns:a16="http://schemas.microsoft.com/office/drawing/2014/main" id="{AB46F6C7-B0B4-4333-80F6-0C2C736734DB}"/>
              </a:ext>
            </a:extLst>
          </p:cNvPr>
          <p:cNvSpPr>
            <a:spLocks xmlns:a="http://schemas.openxmlformats.org/drawingml/2006/main" noGrp="1"/>
          </p:cNvSpPr>
          <p:nvPr/>
        </p:nvSpPr>
        <p:spPr>
          <a:xfrm xmlns:a="http://schemas.openxmlformats.org/drawingml/2006/main">
            <a:off x="609600" y="16573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F4F8F"/>
                </a:solidFill>
                <a:latin typeface="Arial"/>
                <a:ea typeface="Arial"/>
                <a:cs typeface="Arial"/>
              </a:defRPr>
            </a:defPPr>
          </a:lstStyle>
          <a:p xmlns:a="http://schemas.openxmlformats.org/drawingml/2006/main">
            <a:pPr algn="l">
              <a:defRPr sz="2400" b="1">
                <a:solidFill>
                  <a:srgbClr val="1F4F8F"/>
                </a:solidFill>
                <a:latin typeface="Arial"/>
                <a:ea typeface="Arial"/>
                <a:cs typeface="Arial"/>
              </a:defRPr>
            </a:pPr>
            <a:r>
              <a:rPr sz="2400" b="1">
                <a:solidFill>
                  <a:srgbClr val="1F4F8F"/>
                </a:solidFill>
                <a:latin typeface="Arial"/>
                <a:ea typeface="Arial"/>
                <a:cs typeface="Arial"/>
              </a:rPr>
              <a:t>Hoy</a:t>
            </a:r>
          </a:p>
        </p:txBody>
      </p:sp>
      <p:sp>
        <p:nvSpPr>
          <p:cNvPr id="4" name="Catálogo por vehículo&#10;Garage y perfil pe">
            <a:extLst xmlns:a="http://schemas.openxmlformats.org/drawingml/2006/main">
              <a:ext uri="{FF2B5EF4-FFF2-40B4-BE49-F238E27FC236}">
                <a16:creationId xmlns:a16="http://schemas.microsoft.com/office/drawing/2014/main" id="{1E675E0D-B6E3-4258-A1E9-D7EC16E40D4E}"/>
              </a:ext>
            </a:extLst>
          </p:cNvPr>
          <p:cNvSpPr>
            <a:spLocks xmlns:a="http://schemas.openxmlformats.org/drawingml/2006/main" noGrp="1"/>
          </p:cNvSpPr>
          <p:nvPr/>
        </p:nvSpPr>
        <p:spPr>
          <a:xfrm xmlns:a="http://schemas.openxmlformats.org/drawingml/2006/main">
            <a:off x="609600" y="2324100"/>
            <a:ext cx="52197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25" b="0">
                <a:solidFill>
                  <a:srgbClr val="15334F"/>
                </a:solidFill>
                <a:latin typeface="Arial"/>
                <a:ea typeface="Arial"/>
                <a:cs typeface="Arial"/>
              </a:defRPr>
            </a:defPPr>
          </a:lstStyle>
          <a:p xmlns:a="http://schemas.openxmlformats.org/drawingml/2006/main">
            <a:pPr algn="l">
              <a:defRPr sz="2325" b="0">
                <a:solidFill>
                  <a:srgbClr val="15334F"/>
                </a:solidFill>
                <a:latin typeface="Arial"/>
                <a:ea typeface="Arial"/>
                <a:cs typeface="Arial"/>
              </a:defRPr>
            </a:pPr>
            <a:r>
              <a:rPr sz="2325" b="0">
                <a:solidFill>
                  <a:srgbClr val="15334F"/>
                </a:solidFill>
                <a:latin typeface="Arial"/>
                <a:ea typeface="Arial"/>
                <a:cs typeface="Arial"/>
              </a:rPr>
              <a:t>Catálogo por vehículo</a:t>
            </a:r>
          </a:p>
          <a:p xmlns:a="http://schemas.openxmlformats.org/drawingml/2006/main">
            <a:pPr algn="l">
              <a:defRPr sz="2325" b="0">
                <a:solidFill>
                  <a:srgbClr val="15334F"/>
                </a:solidFill>
                <a:latin typeface="Arial"/>
                <a:ea typeface="Arial"/>
                <a:cs typeface="Arial"/>
              </a:defRPr>
            </a:pPr>
            <a:r>
              <a:rPr sz="2325" b="0">
                <a:solidFill>
                  <a:srgbClr val="15334F"/>
                </a:solidFill>
                <a:latin typeface="Arial"/>
                <a:ea typeface="Arial"/>
                <a:cs typeface="Arial"/>
              </a:rPr>
              <a:t>Garage y perfil personal</a:t>
            </a:r>
          </a:p>
          <a:p xmlns:a="http://schemas.openxmlformats.org/drawingml/2006/main">
            <a:pPr algn="l">
              <a:defRPr sz="2325" b="0">
                <a:solidFill>
                  <a:srgbClr val="15334F"/>
                </a:solidFill>
                <a:latin typeface="Arial"/>
                <a:ea typeface="Arial"/>
                <a:cs typeface="Arial"/>
              </a:defRPr>
            </a:pPr>
            <a:r>
              <a:rPr sz="2325" b="0">
                <a:solidFill>
                  <a:srgbClr val="15334F"/>
                </a:solidFill>
                <a:latin typeface="Arial"/>
                <a:ea typeface="Arial"/>
                <a:cs typeface="Arial"/>
              </a:rPr>
              <a:t>Búsquedas guardadas por cliente</a:t>
            </a:r>
          </a:p>
          <a:p xmlns:a="http://schemas.openxmlformats.org/drawingml/2006/main">
            <a:pPr algn="l">
              <a:defRPr sz="2325" b="0">
                <a:solidFill>
                  <a:srgbClr val="15334F"/>
                </a:solidFill>
                <a:latin typeface="Arial"/>
                <a:ea typeface="Arial"/>
                <a:cs typeface="Arial"/>
              </a:defRPr>
            </a:pPr>
            <a:r>
              <a:rPr sz="2325" b="0">
                <a:solidFill>
                  <a:srgbClr val="15334F"/>
                </a:solidFill>
                <a:latin typeface="Arial"/>
                <a:ea typeface="Arial"/>
                <a:cs typeface="Arial"/>
              </a:rPr>
              <a:t>Acceso local o REST al catálogo</a:t>
            </a:r>
          </a:p>
        </p:txBody>
      </p:sp>
      <p:sp>
        <p:nvSpPr>
          <p:cNvPr id="5" name="Próximas etapas">
            <a:extLst xmlns:a="http://schemas.openxmlformats.org/drawingml/2006/main">
              <a:ext uri="{FF2B5EF4-FFF2-40B4-BE49-F238E27FC236}">
                <a16:creationId xmlns:a16="http://schemas.microsoft.com/office/drawing/2014/main" id="{3CE34E25-4543-4F57-9DD9-011D0AF1749E}"/>
              </a:ext>
            </a:extLst>
          </p:cNvPr>
          <p:cNvSpPr>
            <a:spLocks xmlns:a="http://schemas.openxmlformats.org/drawingml/2006/main" noGrp="1"/>
          </p:cNvSpPr>
          <p:nvPr/>
        </p:nvSpPr>
        <p:spPr>
          <a:xfrm xmlns:a="http://schemas.openxmlformats.org/drawingml/2006/main">
            <a:off x="6572250" y="16573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EA580C"/>
                </a:solidFill>
                <a:latin typeface="Arial"/>
                <a:ea typeface="Arial"/>
                <a:cs typeface="Arial"/>
              </a:defRPr>
            </a:defPPr>
          </a:lstStyle>
          <a:p xmlns:a="http://schemas.openxmlformats.org/drawingml/2006/main">
            <a:pPr algn="l">
              <a:defRPr sz="2400" b="1">
                <a:solidFill>
                  <a:srgbClr val="EA580C"/>
                </a:solidFill>
                <a:latin typeface="Arial"/>
                <a:ea typeface="Arial"/>
                <a:cs typeface="Arial"/>
              </a:defRPr>
            </a:pPr>
            <a:r>
              <a:rPr sz="2400" b="1">
                <a:solidFill>
                  <a:srgbClr val="EA580C"/>
                </a:solidFill>
                <a:latin typeface="Arial"/>
                <a:ea typeface="Arial"/>
                <a:cs typeface="Arial"/>
              </a:rPr>
              <a:t>Próximas etapas</a:t>
            </a:r>
          </a:p>
        </p:txBody>
      </p:sp>
      <p:sp>
        <p:nvSpPr>
          <p:cNvPr id="6" name="Diagnóstico asistido por IA&#10;Ofertas de t">
            <a:extLst xmlns:a="http://schemas.openxmlformats.org/drawingml/2006/main">
              <a:ext uri="{FF2B5EF4-FFF2-40B4-BE49-F238E27FC236}">
                <a16:creationId xmlns:a16="http://schemas.microsoft.com/office/drawing/2014/main" id="{05BB20DD-CCBE-403A-929F-E6995CC63CA3}"/>
              </a:ext>
            </a:extLst>
          </p:cNvPr>
          <p:cNvSpPr>
            <a:spLocks xmlns:a="http://schemas.openxmlformats.org/drawingml/2006/main" noGrp="1"/>
          </p:cNvSpPr>
          <p:nvPr/>
        </p:nvSpPr>
        <p:spPr>
          <a:xfrm xmlns:a="http://schemas.openxmlformats.org/drawingml/2006/main">
            <a:off x="6572250" y="2324100"/>
            <a:ext cx="49530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25" b="0">
                <a:solidFill>
                  <a:srgbClr val="15334F"/>
                </a:solidFill>
                <a:latin typeface="Arial"/>
                <a:ea typeface="Arial"/>
                <a:cs typeface="Arial"/>
              </a:defRPr>
            </a:defPPr>
          </a:lstStyle>
          <a:p xmlns:a="http://schemas.openxmlformats.org/drawingml/2006/main">
            <a:pPr algn="l">
              <a:defRPr sz="2325" b="0">
                <a:solidFill>
                  <a:srgbClr val="15334F"/>
                </a:solidFill>
                <a:latin typeface="Arial"/>
                <a:ea typeface="Arial"/>
                <a:cs typeface="Arial"/>
              </a:defRPr>
            </a:pPr>
            <a:r>
              <a:rPr sz="2325" b="0">
                <a:solidFill>
                  <a:srgbClr val="15334F"/>
                </a:solidFill>
                <a:latin typeface="Arial"/>
                <a:ea typeface="Arial"/>
                <a:cs typeface="Arial"/>
              </a:rPr>
              <a:t>Diagnóstico asistido por IA</a:t>
            </a:r>
          </a:p>
          <a:p xmlns:a="http://schemas.openxmlformats.org/drawingml/2006/main">
            <a:pPr algn="l">
              <a:defRPr sz="2325" b="0">
                <a:solidFill>
                  <a:srgbClr val="15334F"/>
                </a:solidFill>
                <a:latin typeface="Arial"/>
                <a:ea typeface="Arial"/>
                <a:cs typeface="Arial"/>
              </a:defRPr>
            </a:pPr>
            <a:r>
              <a:rPr sz="2325" b="0">
                <a:solidFill>
                  <a:srgbClr val="15334F"/>
                </a:solidFill>
                <a:latin typeface="Arial"/>
                <a:ea typeface="Arial"/>
                <a:cs typeface="Arial"/>
              </a:rPr>
              <a:t>Ofertas de tiendas y precios</a:t>
            </a:r>
          </a:p>
          <a:p xmlns:a="http://schemas.openxmlformats.org/drawingml/2006/main">
            <a:pPr algn="l">
              <a:defRPr sz="2325" b="0">
                <a:solidFill>
                  <a:srgbClr val="15334F"/>
                </a:solidFill>
                <a:latin typeface="Arial"/>
                <a:ea typeface="Arial"/>
                <a:cs typeface="Arial"/>
              </a:defRPr>
            </a:pPr>
            <a:r>
              <a:rPr sz="2325" b="0">
                <a:solidFill>
                  <a:srgbClr val="15334F"/>
                </a:solidFill>
                <a:latin typeface="Arial"/>
                <a:ea typeface="Arial"/>
                <a:cs typeface="Arial"/>
              </a:rPr>
              <a:t>Integración SOAP</a:t>
            </a:r>
          </a:p>
          <a:p xmlns:a="http://schemas.openxmlformats.org/drawingml/2006/main">
            <a:pPr algn="l">
              <a:defRPr sz="2325" b="0">
                <a:solidFill>
                  <a:srgbClr val="15334F"/>
                </a:solidFill>
                <a:latin typeface="Arial"/>
                <a:ea typeface="Arial"/>
                <a:cs typeface="Arial"/>
              </a:defRPr>
            </a:pPr>
            <a:r>
              <a:rPr sz="2325" b="0">
                <a:solidFill>
                  <a:srgbClr val="15334F"/>
                </a:solidFill>
                <a:latin typeface="Arial"/>
                <a:ea typeface="Arial"/>
                <a:cs typeface="Arial"/>
              </a:rPr>
              <a:t>Mensajería con RabbitMQ</a:t>
            </a:r>
          </a:p>
        </p:txBody>
      </p:sp>
      <p:sp>
        <p:nvSpPr>
          <p:cNvPr id="7" name="La compatibilidad del vehículo determina">
            <a:extLst xmlns:a="http://schemas.openxmlformats.org/drawingml/2006/main">
              <a:ext uri="{FF2B5EF4-FFF2-40B4-BE49-F238E27FC236}">
                <a16:creationId xmlns:a16="http://schemas.microsoft.com/office/drawing/2014/main" id="{F89D628A-60D3-42D1-AA0E-6EA1F4B9DB71}"/>
              </a:ext>
            </a:extLst>
          </p:cNvPr>
          <p:cNvSpPr>
            <a:spLocks xmlns:a="http://schemas.openxmlformats.org/drawingml/2006/main" noGrp="1"/>
          </p:cNvSpPr>
          <p:nvPr/>
        </p:nvSpPr>
        <p:spPr>
          <a:xfrm xmlns:a="http://schemas.openxmlformats.org/drawingml/2006/main">
            <a:off x="609600" y="54959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53697A"/>
                </a:solidFill>
                <a:latin typeface="Arial"/>
                <a:ea typeface="Arial"/>
                <a:cs typeface="Arial"/>
              </a:defRPr>
            </a:defPPr>
          </a:lstStyle>
          <a:p xmlns:a="http://schemas.openxmlformats.org/drawingml/2006/main">
            <a:pPr algn="l">
              <a:defRPr sz="2100" b="0">
                <a:solidFill>
                  <a:srgbClr val="53697A"/>
                </a:solidFill>
                <a:latin typeface="Arial"/>
                <a:ea typeface="Arial"/>
                <a:cs typeface="Arial"/>
              </a:defRPr>
            </a:pPr>
            <a:r>
              <a:rPr sz="2100" b="0">
                <a:solidFill>
                  <a:srgbClr val="53697A"/>
                </a:solidFill>
                <a:latin typeface="Arial"/>
                <a:ea typeface="Arial"/>
                <a:cs typeface="Arial"/>
              </a:rPr>
              <a:t>La compatibilidad del vehículo determina las piezas en la versión actual.</a:t>
            </a:r>
          </a:p>
        </p:txBody>
      </p:sp>
    </p:spTree>
    <p:extLst>
      <p:ext uri="{BB962C8B-B14F-4D97-AF65-F5344CB8AC3E}">
        <p14:creationId xmlns:p14="http://schemas.microsoft.com/office/powerpoint/2010/main" val="11199900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uncionalidad disponible">
            <a:extLst xmlns:a="http://schemas.openxmlformats.org/drawingml/2006/main">
              <a:ext uri="{FF2B5EF4-FFF2-40B4-BE49-F238E27FC236}">
                <a16:creationId xmlns:a16="http://schemas.microsoft.com/office/drawing/2014/main" id="{B06B4BC0-F4F1-43CB-80E2-CB23A5F68F9C}"/>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5334F"/>
                </a:solidFill>
                <a:latin typeface="Arial"/>
                <a:ea typeface="Arial"/>
                <a:cs typeface="Arial"/>
              </a:defRPr>
            </a:defPPr>
          </a:lstStyle>
          <a:p xmlns:a="http://schemas.openxmlformats.org/drawingml/2006/main">
            <a:pPr algn="l">
              <a:defRPr sz="3300" b="1">
                <a:solidFill>
                  <a:srgbClr val="15334F"/>
                </a:solidFill>
                <a:latin typeface="Arial"/>
                <a:ea typeface="Arial"/>
                <a:cs typeface="Arial"/>
              </a:defRPr>
            </a:pPr>
            <a:r>
              <a:rPr sz="3300" b="1">
                <a:solidFill>
                  <a:srgbClr val="15334F"/>
                </a:solidFill>
                <a:latin typeface="Arial"/>
                <a:ea typeface="Arial"/>
                <a:cs typeface="Arial"/>
              </a:rPr>
              <a:t>Funcionalidad disponible</a:t>
            </a:r>
          </a:p>
        </p:txBody>
      </p:sp>
      <p:sp>
        <p:nvSpPr>
          <p:cNvPr id="2" name="03">
            <a:extLst xmlns:a="http://schemas.openxmlformats.org/drawingml/2006/main">
              <a:ext uri="{FF2B5EF4-FFF2-40B4-BE49-F238E27FC236}">
                <a16:creationId xmlns:a16="http://schemas.microsoft.com/office/drawing/2014/main" id="{F647BD8F-05A2-48C6-9E55-32E1D2AD64C1}"/>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03</a:t>
            </a:r>
          </a:p>
        </p:txBody>
      </p:sp>
      <p:sp>
        <p:nvSpPr>
          <p:cNvPr id="3" name="Búsqueda pública">
            <a:extLst xmlns:a="http://schemas.openxmlformats.org/drawingml/2006/main">
              <a:ext uri="{FF2B5EF4-FFF2-40B4-BE49-F238E27FC236}">
                <a16:creationId xmlns:a16="http://schemas.microsoft.com/office/drawing/2014/main" id="{BF0F0DB4-B739-471A-B78F-EB5F8EA06492}"/>
              </a:ext>
            </a:extLst>
          </p:cNvPr>
          <p:cNvSpPr>
            <a:spLocks xmlns:a="http://schemas.openxmlformats.org/drawingml/2006/main" noGrp="1"/>
          </p:cNvSpPr>
          <p:nvPr/>
        </p:nvSpPr>
        <p:spPr>
          <a:xfrm xmlns:a="http://schemas.openxmlformats.org/drawingml/2006/main">
            <a:off x="609600" y="16859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F4F8F"/>
                </a:solidFill>
                <a:latin typeface="Arial"/>
                <a:ea typeface="Arial"/>
                <a:cs typeface="Arial"/>
              </a:defRPr>
            </a:defPPr>
          </a:lstStyle>
          <a:p xmlns:a="http://schemas.openxmlformats.org/drawingml/2006/main">
            <a:pPr algn="l">
              <a:defRPr sz="2175" b="1">
                <a:solidFill>
                  <a:srgbClr val="1F4F8F"/>
                </a:solidFill>
                <a:latin typeface="Arial"/>
                <a:ea typeface="Arial"/>
                <a:cs typeface="Arial"/>
              </a:defRPr>
            </a:pPr>
            <a:r>
              <a:rPr sz="2175" b="1">
                <a:solidFill>
                  <a:srgbClr val="1F4F8F"/>
                </a:solidFill>
                <a:latin typeface="Arial"/>
                <a:ea typeface="Arial"/>
                <a:cs typeface="Arial"/>
              </a:rPr>
              <a:t>Búsqueda pública</a:t>
            </a:r>
          </a:p>
        </p:txBody>
      </p:sp>
      <p:sp>
        <p:nvSpPr>
          <p:cNvPr id="4" name="Elegir marca, modelo, año y motor. Ver l">
            <a:extLst xmlns:a="http://schemas.openxmlformats.org/drawingml/2006/main">
              <a:ext uri="{FF2B5EF4-FFF2-40B4-BE49-F238E27FC236}">
                <a16:creationId xmlns:a16="http://schemas.microsoft.com/office/drawing/2014/main" id="{DC330279-9D1A-4A39-985E-9EA6F9111B77}"/>
              </a:ext>
            </a:extLst>
          </p:cNvPr>
          <p:cNvSpPr>
            <a:spLocks xmlns:a="http://schemas.openxmlformats.org/drawingml/2006/main" noGrp="1"/>
          </p:cNvSpPr>
          <p:nvPr/>
        </p:nvSpPr>
        <p:spPr>
          <a:xfrm xmlns:a="http://schemas.openxmlformats.org/drawingml/2006/main">
            <a:off x="609600" y="2152650"/>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15334F"/>
                </a:solidFill>
                <a:latin typeface="Arial"/>
                <a:ea typeface="Arial"/>
                <a:cs typeface="Arial"/>
              </a:defRPr>
            </a:defPPr>
          </a:lstStyle>
          <a:p xmlns:a="http://schemas.openxmlformats.org/drawingml/2006/main">
            <a:pPr algn="l">
              <a:defRPr sz="2025" b="0">
                <a:solidFill>
                  <a:srgbClr val="15334F"/>
                </a:solidFill>
                <a:latin typeface="Arial"/>
                <a:ea typeface="Arial"/>
                <a:cs typeface="Arial"/>
              </a:defRPr>
            </a:pPr>
            <a:r>
              <a:rPr sz="2025" b="0">
                <a:solidFill>
                  <a:srgbClr val="15334F"/>
                </a:solidFill>
                <a:latin typeface="Arial"/>
                <a:ea typeface="Arial"/>
                <a:cs typeface="Arial"/>
              </a:rPr>
              <a:t>Elegir marca, modelo, año y motor. Ver las piezas compatibles.</a:t>
            </a:r>
          </a:p>
        </p:txBody>
      </p:sp>
      <p:sp>
        <p:nvSpPr>
          <p:cNvPr id="5" name="Consulta de catálogo">
            <a:extLst xmlns:a="http://schemas.openxmlformats.org/drawingml/2006/main">
              <a:ext uri="{FF2B5EF4-FFF2-40B4-BE49-F238E27FC236}">
                <a16:creationId xmlns:a16="http://schemas.microsoft.com/office/drawing/2014/main" id="{0D139CED-82B4-47F8-8FA3-E2E65CA7E2A6}"/>
              </a:ext>
            </a:extLst>
          </p:cNvPr>
          <p:cNvSpPr>
            <a:spLocks xmlns:a="http://schemas.openxmlformats.org/drawingml/2006/main" noGrp="1"/>
          </p:cNvSpPr>
          <p:nvPr/>
        </p:nvSpPr>
        <p:spPr>
          <a:xfrm xmlns:a="http://schemas.openxmlformats.org/drawingml/2006/main">
            <a:off x="6572250" y="16859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F4F8F"/>
                </a:solidFill>
                <a:latin typeface="Arial"/>
                <a:ea typeface="Arial"/>
                <a:cs typeface="Arial"/>
              </a:defRPr>
            </a:defPPr>
          </a:lstStyle>
          <a:p xmlns:a="http://schemas.openxmlformats.org/drawingml/2006/main">
            <a:pPr algn="l">
              <a:defRPr sz="2175" b="1">
                <a:solidFill>
                  <a:srgbClr val="1F4F8F"/>
                </a:solidFill>
                <a:latin typeface="Arial"/>
                <a:ea typeface="Arial"/>
                <a:cs typeface="Arial"/>
              </a:defRPr>
            </a:pPr>
            <a:r>
              <a:rPr sz="2175" b="1">
                <a:solidFill>
                  <a:srgbClr val="1F4F8F"/>
                </a:solidFill>
                <a:latin typeface="Arial"/>
                <a:ea typeface="Arial"/>
                <a:cs typeface="Arial"/>
              </a:rPr>
              <a:t>Consulta de catálogo</a:t>
            </a:r>
          </a:p>
        </p:txBody>
      </p:sp>
      <p:sp>
        <p:nvSpPr>
          <p:cNvPr id="6" name="Filtrar por sistema del vehículo o lista">
            <a:extLst xmlns:a="http://schemas.openxmlformats.org/drawingml/2006/main">
              <a:ext uri="{FF2B5EF4-FFF2-40B4-BE49-F238E27FC236}">
                <a16:creationId xmlns:a16="http://schemas.microsoft.com/office/drawing/2014/main" id="{4AD0A82A-196B-4071-B929-F887D2DD1D76}"/>
              </a:ext>
            </a:extLst>
          </p:cNvPr>
          <p:cNvSpPr>
            <a:spLocks xmlns:a="http://schemas.openxmlformats.org/drawingml/2006/main" noGrp="1"/>
          </p:cNvSpPr>
          <p:nvPr/>
        </p:nvSpPr>
        <p:spPr>
          <a:xfrm xmlns:a="http://schemas.openxmlformats.org/drawingml/2006/main">
            <a:off x="6572250" y="2152650"/>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15334F"/>
                </a:solidFill>
                <a:latin typeface="Arial"/>
                <a:ea typeface="Arial"/>
                <a:cs typeface="Arial"/>
              </a:defRPr>
            </a:defPPr>
          </a:lstStyle>
          <a:p xmlns:a="http://schemas.openxmlformats.org/drawingml/2006/main">
            <a:pPr algn="l">
              <a:defRPr sz="2025" b="0">
                <a:solidFill>
                  <a:srgbClr val="15334F"/>
                </a:solidFill>
                <a:latin typeface="Arial"/>
                <a:ea typeface="Arial"/>
                <a:cs typeface="Arial"/>
              </a:defRPr>
            </a:pPr>
            <a:r>
              <a:rPr sz="2025" b="0">
                <a:solidFill>
                  <a:srgbClr val="15334F"/>
                </a:solidFill>
                <a:latin typeface="Arial"/>
                <a:ea typeface="Arial"/>
                <a:cs typeface="Arial"/>
              </a:rPr>
              <a:t>Filtrar por sistema del vehículo o listar el catálogo completo.</a:t>
            </a:r>
          </a:p>
        </p:txBody>
      </p:sp>
      <p:sp>
        <p:nvSpPr>
          <p:cNvPr id="7" name="Cuenta y garage">
            <a:extLst xmlns:a="http://schemas.openxmlformats.org/drawingml/2006/main">
              <a:ext uri="{FF2B5EF4-FFF2-40B4-BE49-F238E27FC236}">
                <a16:creationId xmlns:a16="http://schemas.microsoft.com/office/drawing/2014/main" id="{771C48BE-D38A-4B6C-9D6E-CB223198C459}"/>
              </a:ext>
            </a:extLst>
          </p:cNvPr>
          <p:cNvSpPr>
            <a:spLocks xmlns:a="http://schemas.openxmlformats.org/drawingml/2006/main" noGrp="1"/>
          </p:cNvSpPr>
          <p:nvPr/>
        </p:nvSpPr>
        <p:spPr>
          <a:xfrm xmlns:a="http://schemas.openxmlformats.org/drawingml/2006/main">
            <a:off x="609600" y="38766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F4F8F"/>
                </a:solidFill>
                <a:latin typeface="Arial"/>
                <a:ea typeface="Arial"/>
                <a:cs typeface="Arial"/>
              </a:defRPr>
            </a:defPPr>
          </a:lstStyle>
          <a:p xmlns:a="http://schemas.openxmlformats.org/drawingml/2006/main">
            <a:pPr algn="l">
              <a:defRPr sz="2175" b="1">
                <a:solidFill>
                  <a:srgbClr val="1F4F8F"/>
                </a:solidFill>
                <a:latin typeface="Arial"/>
                <a:ea typeface="Arial"/>
                <a:cs typeface="Arial"/>
              </a:defRPr>
            </a:pPr>
            <a:r>
              <a:rPr sz="2175" b="1">
                <a:solidFill>
                  <a:srgbClr val="1F4F8F"/>
                </a:solidFill>
                <a:latin typeface="Arial"/>
                <a:ea typeface="Arial"/>
                <a:cs typeface="Arial"/>
              </a:rPr>
              <a:t>Cuenta y garage</a:t>
            </a:r>
          </a:p>
        </p:txBody>
      </p:sp>
      <p:sp>
        <p:nvSpPr>
          <p:cNvPr id="8" name="Registrarse, ingresar y guardar vehículo">
            <a:extLst xmlns:a="http://schemas.openxmlformats.org/drawingml/2006/main">
              <a:ext uri="{FF2B5EF4-FFF2-40B4-BE49-F238E27FC236}">
                <a16:creationId xmlns:a16="http://schemas.microsoft.com/office/drawing/2014/main" id="{CD111615-37ED-4345-AB5E-17B44B58B0DD}"/>
              </a:ext>
            </a:extLst>
          </p:cNvPr>
          <p:cNvSpPr>
            <a:spLocks xmlns:a="http://schemas.openxmlformats.org/drawingml/2006/main" noGrp="1"/>
          </p:cNvSpPr>
          <p:nvPr/>
        </p:nvSpPr>
        <p:spPr>
          <a:xfrm xmlns:a="http://schemas.openxmlformats.org/drawingml/2006/main">
            <a:off x="609600" y="4343400"/>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15334F"/>
                </a:solidFill>
                <a:latin typeface="Arial"/>
                <a:ea typeface="Arial"/>
                <a:cs typeface="Arial"/>
              </a:defRPr>
            </a:defPPr>
          </a:lstStyle>
          <a:p xmlns:a="http://schemas.openxmlformats.org/drawingml/2006/main">
            <a:pPr algn="l">
              <a:defRPr sz="2025" b="0">
                <a:solidFill>
                  <a:srgbClr val="15334F"/>
                </a:solidFill>
                <a:latin typeface="Arial"/>
                <a:ea typeface="Arial"/>
                <a:cs typeface="Arial"/>
              </a:defRPr>
            </a:pPr>
            <a:r>
              <a:rPr sz="2025" b="0">
                <a:solidFill>
                  <a:srgbClr val="15334F"/>
                </a:solidFill>
                <a:latin typeface="Arial"/>
                <a:ea typeface="Arial"/>
                <a:cs typeface="Arial"/>
              </a:rPr>
              <a:t>Registrarse, ingresar y guardar vehículos con un alias.</a:t>
            </a:r>
          </a:p>
        </p:txBody>
      </p:sp>
      <p:sp>
        <p:nvSpPr>
          <p:cNvPr id="9" name="Perfil e historial">
            <a:extLst xmlns:a="http://schemas.openxmlformats.org/drawingml/2006/main">
              <a:ext uri="{FF2B5EF4-FFF2-40B4-BE49-F238E27FC236}">
                <a16:creationId xmlns:a16="http://schemas.microsoft.com/office/drawing/2014/main" id="{C6EDDB1C-9311-4673-9EF1-3746929E3515}"/>
              </a:ext>
            </a:extLst>
          </p:cNvPr>
          <p:cNvSpPr>
            <a:spLocks xmlns:a="http://schemas.openxmlformats.org/drawingml/2006/main" noGrp="1"/>
          </p:cNvSpPr>
          <p:nvPr/>
        </p:nvSpPr>
        <p:spPr>
          <a:xfrm xmlns:a="http://schemas.openxmlformats.org/drawingml/2006/main">
            <a:off x="6572250" y="38766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F4F8F"/>
                </a:solidFill>
                <a:latin typeface="Arial"/>
                <a:ea typeface="Arial"/>
                <a:cs typeface="Arial"/>
              </a:defRPr>
            </a:defPPr>
          </a:lstStyle>
          <a:p xmlns:a="http://schemas.openxmlformats.org/drawingml/2006/main">
            <a:pPr algn="l">
              <a:defRPr sz="2175" b="1">
                <a:solidFill>
                  <a:srgbClr val="1F4F8F"/>
                </a:solidFill>
                <a:latin typeface="Arial"/>
                <a:ea typeface="Arial"/>
                <a:cs typeface="Arial"/>
              </a:defRPr>
            </a:pPr>
            <a:r>
              <a:rPr sz="2175" b="1">
                <a:solidFill>
                  <a:srgbClr val="1F4F8F"/>
                </a:solidFill>
                <a:latin typeface="Arial"/>
                <a:ea typeface="Arial"/>
                <a:cs typeface="Arial"/>
              </a:rPr>
              <a:t>Perfil e historial</a:t>
            </a:r>
          </a:p>
        </p:txBody>
      </p:sp>
      <p:sp>
        <p:nvSpPr>
          <p:cNvPr id="10" name="Elegir el vehículo predeterminado y revi">
            <a:extLst xmlns:a="http://schemas.openxmlformats.org/drawingml/2006/main">
              <a:ext uri="{FF2B5EF4-FFF2-40B4-BE49-F238E27FC236}">
                <a16:creationId xmlns:a16="http://schemas.microsoft.com/office/drawing/2014/main" id="{15F75631-4197-4D5C-ABB7-C748B7217E7B}"/>
              </a:ext>
            </a:extLst>
          </p:cNvPr>
          <p:cNvSpPr>
            <a:spLocks xmlns:a="http://schemas.openxmlformats.org/drawingml/2006/main" noGrp="1"/>
          </p:cNvSpPr>
          <p:nvPr/>
        </p:nvSpPr>
        <p:spPr>
          <a:xfrm xmlns:a="http://schemas.openxmlformats.org/drawingml/2006/main">
            <a:off x="6572250" y="4343400"/>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15334F"/>
                </a:solidFill>
                <a:latin typeface="Arial"/>
                <a:ea typeface="Arial"/>
                <a:cs typeface="Arial"/>
              </a:defRPr>
            </a:defPPr>
          </a:lstStyle>
          <a:p xmlns:a="http://schemas.openxmlformats.org/drawingml/2006/main">
            <a:pPr algn="l">
              <a:defRPr sz="2025" b="0">
                <a:solidFill>
                  <a:srgbClr val="15334F"/>
                </a:solidFill>
                <a:latin typeface="Arial"/>
                <a:ea typeface="Arial"/>
                <a:cs typeface="Arial"/>
              </a:defRPr>
            </a:pPr>
            <a:r>
              <a:rPr sz="2025" b="0">
                <a:solidFill>
                  <a:srgbClr val="15334F"/>
                </a:solidFill>
                <a:latin typeface="Arial"/>
                <a:ea typeface="Arial"/>
                <a:cs typeface="Arial"/>
              </a:rPr>
              <a:t>Elegir el vehículo predeterminado y revisar búsquedas propias.</a:t>
            </a:r>
          </a:p>
        </p:txBody>
      </p:sp>
    </p:spTree>
    <p:extLst>
      <p:ext uri="{BB962C8B-B14F-4D97-AF65-F5344CB8AC3E}">
        <p14:creationId xmlns:p14="http://schemas.microsoft.com/office/powerpoint/2010/main" val="21183063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Happy path: una búsqueda con cuenta">
            <a:extLst xmlns:a="http://schemas.openxmlformats.org/drawingml/2006/main">
              <a:ext uri="{FF2B5EF4-FFF2-40B4-BE49-F238E27FC236}">
                <a16:creationId xmlns:a16="http://schemas.microsoft.com/office/drawing/2014/main" id="{BBA94FA1-EA26-4E4E-8D2D-BA7C053D6682}"/>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5334F"/>
                </a:solidFill>
                <a:latin typeface="Arial"/>
                <a:ea typeface="Arial"/>
                <a:cs typeface="Arial"/>
              </a:defRPr>
            </a:defPPr>
          </a:lstStyle>
          <a:p xmlns:a="http://schemas.openxmlformats.org/drawingml/2006/main">
            <a:pPr algn="l">
              <a:defRPr sz="3300" b="1">
                <a:solidFill>
                  <a:srgbClr val="15334F"/>
                </a:solidFill>
                <a:latin typeface="Arial"/>
                <a:ea typeface="Arial"/>
                <a:cs typeface="Arial"/>
              </a:defRPr>
            </a:pPr>
            <a:r>
              <a:rPr sz="3300" b="1">
                <a:solidFill>
                  <a:srgbClr val="15334F"/>
                </a:solidFill>
                <a:latin typeface="Arial"/>
                <a:ea typeface="Arial"/>
                <a:cs typeface="Arial"/>
              </a:rPr>
              <a:t>Happy path: una búsqueda con cuenta</a:t>
            </a:r>
          </a:p>
        </p:txBody>
      </p:sp>
      <p:sp>
        <p:nvSpPr>
          <p:cNvPr id="2" name="04">
            <a:extLst xmlns:a="http://schemas.openxmlformats.org/drawingml/2006/main">
              <a:ext uri="{FF2B5EF4-FFF2-40B4-BE49-F238E27FC236}">
                <a16:creationId xmlns:a16="http://schemas.microsoft.com/office/drawing/2014/main" id="{925FB260-6918-4582-B3F3-FF7E84808A87}"/>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04</a:t>
            </a:r>
          </a:p>
        </p:txBody>
      </p:sp>
      <p:sp>
        <p:nvSpPr>
          <p:cNvPr id="3" name="01">
            <a:extLst xmlns:a="http://schemas.openxmlformats.org/drawingml/2006/main">
              <a:ext uri="{FF2B5EF4-FFF2-40B4-BE49-F238E27FC236}">
                <a16:creationId xmlns:a16="http://schemas.microsoft.com/office/drawing/2014/main" id="{30741170-B70A-4A42-9AE1-5DDB70C380F5}"/>
              </a:ext>
            </a:extLst>
          </p:cNvPr>
          <p:cNvSpPr>
            <a:spLocks xmlns:a="http://schemas.openxmlformats.org/drawingml/2006/main" noGrp="1"/>
          </p:cNvSpPr>
          <p:nvPr/>
        </p:nvSpPr>
        <p:spPr>
          <a:xfrm xmlns:a="http://schemas.openxmlformats.org/drawingml/2006/main">
            <a:off x="609600" y="1619250"/>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EA580C"/>
                </a:solidFill>
                <a:latin typeface="Arial"/>
                <a:ea typeface="Arial"/>
                <a:cs typeface="Arial"/>
              </a:defRPr>
            </a:defPPr>
          </a:lstStyle>
          <a:p xmlns:a="http://schemas.openxmlformats.org/drawingml/2006/main">
            <a:pPr algn="l">
              <a:defRPr sz="2550" b="1">
                <a:solidFill>
                  <a:srgbClr val="EA580C"/>
                </a:solidFill>
                <a:latin typeface="Arial"/>
                <a:ea typeface="Arial"/>
                <a:cs typeface="Arial"/>
              </a:defRPr>
            </a:pPr>
            <a:r>
              <a:rPr sz="2550" b="1">
                <a:solidFill>
                  <a:srgbClr val="EA580C"/>
                </a:solidFill>
                <a:latin typeface="Arial"/>
                <a:ea typeface="Arial"/>
                <a:cs typeface="Arial"/>
              </a:rPr>
              <a:t>01</a:t>
            </a:r>
          </a:p>
        </p:txBody>
      </p:sp>
      <p:sp>
        <p:nvSpPr>
          <p:cNvPr id="4" name="Ingresar">
            <a:extLst xmlns:a="http://schemas.openxmlformats.org/drawingml/2006/main">
              <a:ext uri="{FF2B5EF4-FFF2-40B4-BE49-F238E27FC236}">
                <a16:creationId xmlns:a16="http://schemas.microsoft.com/office/drawing/2014/main" id="{F34EFB1B-7485-4EAA-9720-5BD978A56AA8}"/>
              </a:ext>
            </a:extLst>
          </p:cNvPr>
          <p:cNvSpPr>
            <a:spLocks xmlns:a="http://schemas.openxmlformats.org/drawingml/2006/main" noGrp="1"/>
          </p:cNvSpPr>
          <p:nvPr/>
        </p:nvSpPr>
        <p:spPr>
          <a:xfrm xmlns:a="http://schemas.openxmlformats.org/drawingml/2006/main">
            <a:off x="1476375" y="16192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F4F8F"/>
                </a:solidFill>
                <a:latin typeface="Arial"/>
                <a:ea typeface="Arial"/>
                <a:cs typeface="Arial"/>
              </a:defRPr>
            </a:defPPr>
          </a:lstStyle>
          <a:p xmlns:a="http://schemas.openxmlformats.org/drawingml/2006/main">
            <a:pPr algn="l">
              <a:defRPr sz="2175" b="1">
                <a:solidFill>
                  <a:srgbClr val="1F4F8F"/>
                </a:solidFill>
                <a:latin typeface="Arial"/>
                <a:ea typeface="Arial"/>
                <a:cs typeface="Arial"/>
              </a:defRPr>
            </a:pPr>
            <a:r>
              <a:rPr sz="2175" b="1">
                <a:solidFill>
                  <a:srgbClr val="1F4F8F"/>
                </a:solidFill>
                <a:latin typeface="Arial"/>
                <a:ea typeface="Arial"/>
                <a:cs typeface="Arial"/>
              </a:rPr>
              <a:t>Ingresar</a:t>
            </a:r>
          </a:p>
        </p:txBody>
      </p:sp>
      <p:sp>
        <p:nvSpPr>
          <p:cNvPr id="5" name="Cuenta semilla de Bruno">
            <a:extLst xmlns:a="http://schemas.openxmlformats.org/drawingml/2006/main">
              <a:ext uri="{FF2B5EF4-FFF2-40B4-BE49-F238E27FC236}">
                <a16:creationId xmlns:a16="http://schemas.microsoft.com/office/drawing/2014/main" id="{55153A11-79B6-454C-B01F-668EEE616115}"/>
              </a:ext>
            </a:extLst>
          </p:cNvPr>
          <p:cNvSpPr>
            <a:spLocks xmlns:a="http://schemas.openxmlformats.org/drawingml/2006/main" noGrp="1"/>
          </p:cNvSpPr>
          <p:nvPr/>
        </p:nvSpPr>
        <p:spPr>
          <a:xfrm xmlns:a="http://schemas.openxmlformats.org/drawingml/2006/main">
            <a:off x="4552950" y="1638300"/>
            <a:ext cx="700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5334F"/>
                </a:solidFill>
                <a:latin typeface="Arial"/>
                <a:ea typeface="Arial"/>
                <a:cs typeface="Arial"/>
              </a:defRPr>
            </a:defPPr>
          </a:lstStyle>
          <a:p xmlns:a="http://schemas.openxmlformats.org/drawingml/2006/main">
            <a:pPr algn="l">
              <a:defRPr sz="2100" b="0">
                <a:solidFill>
                  <a:srgbClr val="15334F"/>
                </a:solidFill>
                <a:latin typeface="Arial"/>
                <a:ea typeface="Arial"/>
                <a:cs typeface="Arial"/>
              </a:defRPr>
            </a:pPr>
            <a:r>
              <a:rPr sz="2100" b="0">
                <a:solidFill>
                  <a:srgbClr val="15334F"/>
                </a:solidFill>
                <a:latin typeface="Arial"/>
                <a:ea typeface="Arial"/>
                <a:cs typeface="Arial"/>
              </a:rPr>
              <a:t>Cuenta semilla de Bruno</a:t>
            </a:r>
          </a:p>
        </p:txBody>
      </p:sp>
      <p:sp>
        <p:nvSpPr>
          <p:cNvPr id="6" name="02">
            <a:extLst xmlns:a="http://schemas.openxmlformats.org/drawingml/2006/main">
              <a:ext uri="{FF2B5EF4-FFF2-40B4-BE49-F238E27FC236}">
                <a16:creationId xmlns:a16="http://schemas.microsoft.com/office/drawing/2014/main" id="{8C6FD5F4-7A09-4201-A453-0BDC05D26DB2}"/>
              </a:ext>
            </a:extLst>
          </p:cNvPr>
          <p:cNvSpPr>
            <a:spLocks xmlns:a="http://schemas.openxmlformats.org/drawingml/2006/main" noGrp="1"/>
          </p:cNvSpPr>
          <p:nvPr/>
        </p:nvSpPr>
        <p:spPr>
          <a:xfrm xmlns:a="http://schemas.openxmlformats.org/drawingml/2006/main">
            <a:off x="609600" y="2438400"/>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EA580C"/>
                </a:solidFill>
                <a:latin typeface="Arial"/>
                <a:ea typeface="Arial"/>
                <a:cs typeface="Arial"/>
              </a:defRPr>
            </a:defPPr>
          </a:lstStyle>
          <a:p xmlns:a="http://schemas.openxmlformats.org/drawingml/2006/main">
            <a:pPr algn="l">
              <a:defRPr sz="2550" b="1">
                <a:solidFill>
                  <a:srgbClr val="EA580C"/>
                </a:solidFill>
                <a:latin typeface="Arial"/>
                <a:ea typeface="Arial"/>
                <a:cs typeface="Arial"/>
              </a:defRPr>
            </a:pPr>
            <a:r>
              <a:rPr sz="2550" b="1">
                <a:solidFill>
                  <a:srgbClr val="EA580C"/>
                </a:solidFill>
                <a:latin typeface="Arial"/>
                <a:ea typeface="Arial"/>
                <a:cs typeface="Arial"/>
              </a:rPr>
              <a:t>02</a:t>
            </a:r>
          </a:p>
        </p:txBody>
      </p:sp>
      <p:sp>
        <p:nvSpPr>
          <p:cNvPr id="7" name="Elegir vehículo">
            <a:extLst xmlns:a="http://schemas.openxmlformats.org/drawingml/2006/main">
              <a:ext uri="{FF2B5EF4-FFF2-40B4-BE49-F238E27FC236}">
                <a16:creationId xmlns:a16="http://schemas.microsoft.com/office/drawing/2014/main" id="{77D65F0D-2989-4E42-8D18-D265B2ED59E4}"/>
              </a:ext>
            </a:extLst>
          </p:cNvPr>
          <p:cNvSpPr>
            <a:spLocks xmlns:a="http://schemas.openxmlformats.org/drawingml/2006/main" noGrp="1"/>
          </p:cNvSpPr>
          <p:nvPr/>
        </p:nvSpPr>
        <p:spPr>
          <a:xfrm xmlns:a="http://schemas.openxmlformats.org/drawingml/2006/main">
            <a:off x="1476375" y="24384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F4F8F"/>
                </a:solidFill>
                <a:latin typeface="Arial"/>
                <a:ea typeface="Arial"/>
                <a:cs typeface="Arial"/>
              </a:defRPr>
            </a:defPPr>
          </a:lstStyle>
          <a:p xmlns:a="http://schemas.openxmlformats.org/drawingml/2006/main">
            <a:pPr algn="l">
              <a:defRPr sz="2175" b="1">
                <a:solidFill>
                  <a:srgbClr val="1F4F8F"/>
                </a:solidFill>
                <a:latin typeface="Arial"/>
                <a:ea typeface="Arial"/>
                <a:cs typeface="Arial"/>
              </a:defRPr>
            </a:pPr>
            <a:r>
              <a:rPr sz="2175" b="1">
                <a:solidFill>
                  <a:srgbClr val="1F4F8F"/>
                </a:solidFill>
                <a:latin typeface="Arial"/>
                <a:ea typeface="Arial"/>
                <a:cs typeface="Arial"/>
              </a:rPr>
              <a:t>Elegir vehículo</a:t>
            </a:r>
          </a:p>
        </p:txBody>
      </p:sp>
      <p:sp>
        <p:nvSpPr>
          <p:cNvPr id="8" name="Volkswagen Gol 2015, motor 1.6">
            <a:extLst xmlns:a="http://schemas.openxmlformats.org/drawingml/2006/main">
              <a:ext uri="{FF2B5EF4-FFF2-40B4-BE49-F238E27FC236}">
                <a16:creationId xmlns:a16="http://schemas.microsoft.com/office/drawing/2014/main" id="{066C637F-6AB5-43D5-A023-0B01EE618C81}"/>
              </a:ext>
            </a:extLst>
          </p:cNvPr>
          <p:cNvSpPr>
            <a:spLocks xmlns:a="http://schemas.openxmlformats.org/drawingml/2006/main" noGrp="1"/>
          </p:cNvSpPr>
          <p:nvPr/>
        </p:nvSpPr>
        <p:spPr>
          <a:xfrm xmlns:a="http://schemas.openxmlformats.org/drawingml/2006/main">
            <a:off x="4552950" y="2457450"/>
            <a:ext cx="700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5334F"/>
                </a:solidFill>
                <a:latin typeface="Arial"/>
                <a:ea typeface="Arial"/>
                <a:cs typeface="Arial"/>
              </a:defRPr>
            </a:defPPr>
          </a:lstStyle>
          <a:p xmlns:a="http://schemas.openxmlformats.org/drawingml/2006/main">
            <a:pPr algn="l">
              <a:defRPr sz="2100" b="0">
                <a:solidFill>
                  <a:srgbClr val="15334F"/>
                </a:solidFill>
                <a:latin typeface="Arial"/>
                <a:ea typeface="Arial"/>
                <a:cs typeface="Arial"/>
              </a:defRPr>
            </a:pPr>
            <a:r>
              <a:rPr sz="2100" b="0">
                <a:solidFill>
                  <a:srgbClr val="15334F"/>
                </a:solidFill>
                <a:latin typeface="Arial"/>
                <a:ea typeface="Arial"/>
                <a:cs typeface="Arial"/>
              </a:rPr>
              <a:t>Volkswagen Gol 2015, motor 1.6</a:t>
            </a:r>
          </a:p>
        </p:txBody>
      </p:sp>
      <p:sp>
        <p:nvSpPr>
          <p:cNvPr id="9" name="03">
            <a:extLst xmlns:a="http://schemas.openxmlformats.org/drawingml/2006/main">
              <a:ext uri="{FF2B5EF4-FFF2-40B4-BE49-F238E27FC236}">
                <a16:creationId xmlns:a16="http://schemas.microsoft.com/office/drawing/2014/main" id="{3096A7EB-77BD-4235-ACE9-E4BE53485BAA}"/>
              </a:ext>
            </a:extLst>
          </p:cNvPr>
          <p:cNvSpPr>
            <a:spLocks xmlns:a="http://schemas.openxmlformats.org/drawingml/2006/main" noGrp="1"/>
          </p:cNvSpPr>
          <p:nvPr/>
        </p:nvSpPr>
        <p:spPr>
          <a:xfrm xmlns:a="http://schemas.openxmlformats.org/drawingml/2006/main">
            <a:off x="609600" y="3257550"/>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EA580C"/>
                </a:solidFill>
                <a:latin typeface="Arial"/>
                <a:ea typeface="Arial"/>
                <a:cs typeface="Arial"/>
              </a:defRPr>
            </a:defPPr>
          </a:lstStyle>
          <a:p xmlns:a="http://schemas.openxmlformats.org/drawingml/2006/main">
            <a:pPr algn="l">
              <a:defRPr sz="2550" b="1">
                <a:solidFill>
                  <a:srgbClr val="EA580C"/>
                </a:solidFill>
                <a:latin typeface="Arial"/>
                <a:ea typeface="Arial"/>
                <a:cs typeface="Arial"/>
              </a:defRPr>
            </a:pPr>
            <a:r>
              <a:rPr sz="2550" b="1">
                <a:solidFill>
                  <a:srgbClr val="EA580C"/>
                </a:solidFill>
                <a:latin typeface="Arial"/>
                <a:ea typeface="Arial"/>
                <a:cs typeface="Arial"/>
              </a:rPr>
              <a:t>03</a:t>
            </a:r>
          </a:p>
        </p:txBody>
      </p:sp>
      <p:sp>
        <p:nvSpPr>
          <p:cNvPr id="10" name="Describir el problema">
            <a:extLst xmlns:a="http://schemas.openxmlformats.org/drawingml/2006/main">
              <a:ext uri="{FF2B5EF4-FFF2-40B4-BE49-F238E27FC236}">
                <a16:creationId xmlns:a16="http://schemas.microsoft.com/office/drawing/2014/main" id="{2A24E08A-6C2D-43EB-A1B3-387EFB7155B3}"/>
              </a:ext>
            </a:extLst>
          </p:cNvPr>
          <p:cNvSpPr>
            <a:spLocks xmlns:a="http://schemas.openxmlformats.org/drawingml/2006/main" noGrp="1"/>
          </p:cNvSpPr>
          <p:nvPr/>
        </p:nvSpPr>
        <p:spPr>
          <a:xfrm xmlns:a="http://schemas.openxmlformats.org/drawingml/2006/main">
            <a:off x="1476375" y="32575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F4F8F"/>
                </a:solidFill>
                <a:latin typeface="Arial"/>
                <a:ea typeface="Arial"/>
                <a:cs typeface="Arial"/>
              </a:defRPr>
            </a:defPPr>
          </a:lstStyle>
          <a:p xmlns:a="http://schemas.openxmlformats.org/drawingml/2006/main">
            <a:pPr algn="l">
              <a:defRPr sz="2175" b="1">
                <a:solidFill>
                  <a:srgbClr val="1F4F8F"/>
                </a:solidFill>
                <a:latin typeface="Arial"/>
                <a:ea typeface="Arial"/>
                <a:cs typeface="Arial"/>
              </a:defRPr>
            </a:pPr>
            <a:r>
              <a:rPr sz="2175" b="1">
                <a:solidFill>
                  <a:srgbClr val="1F4F8F"/>
                </a:solidFill>
                <a:latin typeface="Arial"/>
                <a:ea typeface="Arial"/>
                <a:cs typeface="Arial"/>
              </a:rPr>
              <a:t>Describir el problema</a:t>
            </a:r>
          </a:p>
        </p:txBody>
      </p:sp>
      <p:sp>
        <p:nvSpPr>
          <p:cNvPr id="11" name="“Escucho un ruido al frenar desde ayer”">
            <a:extLst xmlns:a="http://schemas.openxmlformats.org/drawingml/2006/main">
              <a:ext uri="{FF2B5EF4-FFF2-40B4-BE49-F238E27FC236}">
                <a16:creationId xmlns:a16="http://schemas.microsoft.com/office/drawing/2014/main" id="{6A5138F3-A83F-4DE7-9921-E34ABDDE2C15}"/>
              </a:ext>
            </a:extLst>
          </p:cNvPr>
          <p:cNvSpPr>
            <a:spLocks xmlns:a="http://schemas.openxmlformats.org/drawingml/2006/main" noGrp="1"/>
          </p:cNvSpPr>
          <p:nvPr/>
        </p:nvSpPr>
        <p:spPr>
          <a:xfrm xmlns:a="http://schemas.openxmlformats.org/drawingml/2006/main">
            <a:off x="4552950" y="3276600"/>
            <a:ext cx="700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5334F"/>
                </a:solidFill>
                <a:latin typeface="Arial"/>
                <a:ea typeface="Arial"/>
                <a:cs typeface="Arial"/>
              </a:defRPr>
            </a:defPPr>
          </a:lstStyle>
          <a:p xmlns:a="http://schemas.openxmlformats.org/drawingml/2006/main">
            <a:pPr algn="l">
              <a:defRPr sz="2100" b="0">
                <a:solidFill>
                  <a:srgbClr val="15334F"/>
                </a:solidFill>
                <a:latin typeface="Arial"/>
                <a:ea typeface="Arial"/>
                <a:cs typeface="Arial"/>
              </a:defRPr>
            </a:pPr>
            <a:r>
              <a:rPr sz="2100" b="0">
                <a:solidFill>
                  <a:srgbClr val="15334F"/>
                </a:solidFill>
                <a:latin typeface="Arial"/>
                <a:ea typeface="Arial"/>
                <a:cs typeface="Arial"/>
              </a:rPr>
              <a:t>“Escucho un ruido al frenar desde ayer”</a:t>
            </a:r>
          </a:p>
        </p:txBody>
      </p:sp>
      <p:sp>
        <p:nvSpPr>
          <p:cNvPr id="12" name="04">
            <a:extLst xmlns:a="http://schemas.openxmlformats.org/drawingml/2006/main">
              <a:ext uri="{FF2B5EF4-FFF2-40B4-BE49-F238E27FC236}">
                <a16:creationId xmlns:a16="http://schemas.microsoft.com/office/drawing/2014/main" id="{0719C28A-6D79-4593-BE1B-9E072A122A04}"/>
              </a:ext>
            </a:extLst>
          </p:cNvPr>
          <p:cNvSpPr>
            <a:spLocks xmlns:a="http://schemas.openxmlformats.org/drawingml/2006/main" noGrp="1"/>
          </p:cNvSpPr>
          <p:nvPr/>
        </p:nvSpPr>
        <p:spPr>
          <a:xfrm xmlns:a="http://schemas.openxmlformats.org/drawingml/2006/main">
            <a:off x="609600" y="4076700"/>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EA580C"/>
                </a:solidFill>
                <a:latin typeface="Arial"/>
                <a:ea typeface="Arial"/>
                <a:cs typeface="Arial"/>
              </a:defRPr>
            </a:defPPr>
          </a:lstStyle>
          <a:p xmlns:a="http://schemas.openxmlformats.org/drawingml/2006/main">
            <a:pPr algn="l">
              <a:defRPr sz="2550" b="1">
                <a:solidFill>
                  <a:srgbClr val="EA580C"/>
                </a:solidFill>
                <a:latin typeface="Arial"/>
                <a:ea typeface="Arial"/>
                <a:cs typeface="Arial"/>
              </a:defRPr>
            </a:pPr>
            <a:r>
              <a:rPr sz="2550" b="1">
                <a:solidFill>
                  <a:srgbClr val="EA580C"/>
                </a:solidFill>
                <a:latin typeface="Arial"/>
                <a:ea typeface="Arial"/>
                <a:cs typeface="Arial"/>
              </a:rPr>
              <a:t>04</a:t>
            </a:r>
          </a:p>
        </p:txBody>
      </p:sp>
      <p:sp>
        <p:nvSpPr>
          <p:cNvPr id="13" name="Buscar">
            <a:extLst xmlns:a="http://schemas.openxmlformats.org/drawingml/2006/main">
              <a:ext uri="{FF2B5EF4-FFF2-40B4-BE49-F238E27FC236}">
                <a16:creationId xmlns:a16="http://schemas.microsoft.com/office/drawing/2014/main" id="{D3D17BB3-3F02-4BF4-BB14-BDA792699266}"/>
              </a:ext>
            </a:extLst>
          </p:cNvPr>
          <p:cNvSpPr>
            <a:spLocks xmlns:a="http://schemas.openxmlformats.org/drawingml/2006/main" noGrp="1"/>
          </p:cNvSpPr>
          <p:nvPr/>
        </p:nvSpPr>
        <p:spPr>
          <a:xfrm xmlns:a="http://schemas.openxmlformats.org/drawingml/2006/main">
            <a:off x="1476375" y="40767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F4F8F"/>
                </a:solidFill>
                <a:latin typeface="Arial"/>
                <a:ea typeface="Arial"/>
                <a:cs typeface="Arial"/>
              </a:defRPr>
            </a:defPPr>
          </a:lstStyle>
          <a:p xmlns:a="http://schemas.openxmlformats.org/drawingml/2006/main">
            <a:pPr algn="l">
              <a:defRPr sz="2175" b="1">
                <a:solidFill>
                  <a:srgbClr val="1F4F8F"/>
                </a:solidFill>
                <a:latin typeface="Arial"/>
                <a:ea typeface="Arial"/>
                <a:cs typeface="Arial"/>
              </a:defRPr>
            </a:pPr>
            <a:r>
              <a:rPr sz="2175" b="1">
                <a:solidFill>
                  <a:srgbClr val="1F4F8F"/>
                </a:solidFill>
                <a:latin typeface="Arial"/>
                <a:ea typeface="Arial"/>
                <a:cs typeface="Arial"/>
              </a:rPr>
              <a:t>Buscar</a:t>
            </a:r>
          </a:p>
        </p:txBody>
      </p:sp>
      <p:sp>
        <p:nvSpPr>
          <p:cNvPr id="14" name="La app guarda la consulta y resuelve com">
            <a:extLst xmlns:a="http://schemas.openxmlformats.org/drawingml/2006/main">
              <a:ext uri="{FF2B5EF4-FFF2-40B4-BE49-F238E27FC236}">
                <a16:creationId xmlns:a16="http://schemas.microsoft.com/office/drawing/2014/main" id="{EADE9E42-0C6B-4870-B91A-04768CA94EB0}"/>
              </a:ext>
            </a:extLst>
          </p:cNvPr>
          <p:cNvSpPr>
            <a:spLocks xmlns:a="http://schemas.openxmlformats.org/drawingml/2006/main" noGrp="1"/>
          </p:cNvSpPr>
          <p:nvPr/>
        </p:nvSpPr>
        <p:spPr>
          <a:xfrm xmlns:a="http://schemas.openxmlformats.org/drawingml/2006/main">
            <a:off x="4552950" y="4095750"/>
            <a:ext cx="700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5334F"/>
                </a:solidFill>
                <a:latin typeface="Arial"/>
                <a:ea typeface="Arial"/>
                <a:cs typeface="Arial"/>
              </a:defRPr>
            </a:defPPr>
          </a:lstStyle>
          <a:p xmlns:a="http://schemas.openxmlformats.org/drawingml/2006/main">
            <a:pPr algn="l">
              <a:defRPr sz="2100" b="0">
                <a:solidFill>
                  <a:srgbClr val="15334F"/>
                </a:solidFill>
                <a:latin typeface="Arial"/>
                <a:ea typeface="Arial"/>
                <a:cs typeface="Arial"/>
              </a:defRPr>
            </a:pPr>
            <a:r>
              <a:rPr sz="2100" b="0">
                <a:solidFill>
                  <a:srgbClr val="15334F"/>
                </a:solidFill>
                <a:latin typeface="Arial"/>
                <a:ea typeface="Arial"/>
                <a:cs typeface="Arial"/>
              </a:rPr>
              <a:t>La app guarda la consulta y resuelve compatibilidad</a:t>
            </a:r>
          </a:p>
        </p:txBody>
      </p:sp>
      <p:sp>
        <p:nvSpPr>
          <p:cNvPr id="15" name="05">
            <a:extLst xmlns:a="http://schemas.openxmlformats.org/drawingml/2006/main">
              <a:ext uri="{FF2B5EF4-FFF2-40B4-BE49-F238E27FC236}">
                <a16:creationId xmlns:a16="http://schemas.microsoft.com/office/drawing/2014/main" id="{4B5254CE-654F-4012-AC75-B011C99C0B41}"/>
              </a:ext>
            </a:extLst>
          </p:cNvPr>
          <p:cNvSpPr>
            <a:spLocks xmlns:a="http://schemas.openxmlformats.org/drawingml/2006/main" noGrp="1"/>
          </p:cNvSpPr>
          <p:nvPr/>
        </p:nvSpPr>
        <p:spPr>
          <a:xfrm xmlns:a="http://schemas.openxmlformats.org/drawingml/2006/main">
            <a:off x="609600" y="4895850"/>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EA580C"/>
                </a:solidFill>
                <a:latin typeface="Arial"/>
                <a:ea typeface="Arial"/>
                <a:cs typeface="Arial"/>
              </a:defRPr>
            </a:defPPr>
          </a:lstStyle>
          <a:p xmlns:a="http://schemas.openxmlformats.org/drawingml/2006/main">
            <a:pPr algn="l">
              <a:defRPr sz="2550" b="1">
                <a:solidFill>
                  <a:srgbClr val="EA580C"/>
                </a:solidFill>
                <a:latin typeface="Arial"/>
                <a:ea typeface="Arial"/>
                <a:cs typeface="Arial"/>
              </a:defRPr>
            </a:pPr>
            <a:r>
              <a:rPr sz="2550" b="1">
                <a:solidFill>
                  <a:srgbClr val="EA580C"/>
                </a:solidFill>
                <a:latin typeface="Arial"/>
                <a:ea typeface="Arial"/>
                <a:cs typeface="Arial"/>
              </a:rPr>
              <a:t>05</a:t>
            </a:r>
          </a:p>
        </p:txBody>
      </p:sp>
      <p:sp>
        <p:nvSpPr>
          <p:cNvPr id="16" name="Ver el resultado">
            <a:extLst xmlns:a="http://schemas.openxmlformats.org/drawingml/2006/main">
              <a:ext uri="{FF2B5EF4-FFF2-40B4-BE49-F238E27FC236}">
                <a16:creationId xmlns:a16="http://schemas.microsoft.com/office/drawing/2014/main" id="{B416C3DF-0761-437B-9389-F2CFB134F993}"/>
              </a:ext>
            </a:extLst>
          </p:cNvPr>
          <p:cNvSpPr>
            <a:spLocks xmlns:a="http://schemas.openxmlformats.org/drawingml/2006/main" noGrp="1"/>
          </p:cNvSpPr>
          <p:nvPr/>
        </p:nvSpPr>
        <p:spPr>
          <a:xfrm xmlns:a="http://schemas.openxmlformats.org/drawingml/2006/main">
            <a:off x="1476375" y="48958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F4F8F"/>
                </a:solidFill>
                <a:latin typeface="Arial"/>
                <a:ea typeface="Arial"/>
                <a:cs typeface="Arial"/>
              </a:defRPr>
            </a:defPPr>
          </a:lstStyle>
          <a:p xmlns:a="http://schemas.openxmlformats.org/drawingml/2006/main">
            <a:pPr algn="l">
              <a:defRPr sz="2175" b="1">
                <a:solidFill>
                  <a:srgbClr val="1F4F8F"/>
                </a:solidFill>
                <a:latin typeface="Arial"/>
                <a:ea typeface="Arial"/>
                <a:cs typeface="Arial"/>
              </a:defRPr>
            </a:pPr>
            <a:r>
              <a:rPr sz="2175" b="1">
                <a:solidFill>
                  <a:srgbClr val="1F4F8F"/>
                </a:solidFill>
                <a:latin typeface="Arial"/>
                <a:ea typeface="Arial"/>
                <a:cs typeface="Arial"/>
              </a:rPr>
              <a:t>Ver el resultado</a:t>
            </a:r>
          </a:p>
        </p:txBody>
      </p:sp>
      <p:sp>
        <p:nvSpPr>
          <p:cNvPr id="17" name="Piezas compatibles e historial actualiza">
            <a:extLst xmlns:a="http://schemas.openxmlformats.org/drawingml/2006/main">
              <a:ext uri="{FF2B5EF4-FFF2-40B4-BE49-F238E27FC236}">
                <a16:creationId xmlns:a16="http://schemas.microsoft.com/office/drawing/2014/main" id="{281CA1C2-C2B7-4A8C-B32E-CCB04A2D7AE1}"/>
              </a:ext>
            </a:extLst>
          </p:cNvPr>
          <p:cNvSpPr>
            <a:spLocks xmlns:a="http://schemas.openxmlformats.org/drawingml/2006/main" noGrp="1"/>
          </p:cNvSpPr>
          <p:nvPr/>
        </p:nvSpPr>
        <p:spPr>
          <a:xfrm xmlns:a="http://schemas.openxmlformats.org/drawingml/2006/main">
            <a:off x="4552950" y="4914900"/>
            <a:ext cx="700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5334F"/>
                </a:solidFill>
                <a:latin typeface="Arial"/>
                <a:ea typeface="Arial"/>
                <a:cs typeface="Arial"/>
              </a:defRPr>
            </a:defPPr>
          </a:lstStyle>
          <a:p xmlns:a="http://schemas.openxmlformats.org/drawingml/2006/main">
            <a:pPr algn="l">
              <a:defRPr sz="2100" b="0">
                <a:solidFill>
                  <a:srgbClr val="15334F"/>
                </a:solidFill>
                <a:latin typeface="Arial"/>
                <a:ea typeface="Arial"/>
                <a:cs typeface="Arial"/>
              </a:defRPr>
            </a:pPr>
            <a:r>
              <a:rPr sz="2100" b="0">
                <a:solidFill>
                  <a:srgbClr val="15334F"/>
                </a:solidFill>
                <a:latin typeface="Arial"/>
                <a:ea typeface="Arial"/>
                <a:cs typeface="Arial"/>
              </a:rPr>
              <a:t>Piezas compatibles e historial actualizado</a:t>
            </a:r>
          </a:p>
        </p:txBody>
      </p:sp>
    </p:spTree>
    <p:extLst>
      <p:ext uri="{BB962C8B-B14F-4D97-AF65-F5344CB8AC3E}">
        <p14:creationId xmlns:p14="http://schemas.microsoft.com/office/powerpoint/2010/main" val="8413442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Ejemplo de resultado para el Gol 2015">
            <a:extLst xmlns:a="http://schemas.openxmlformats.org/drawingml/2006/main">
              <a:ext uri="{FF2B5EF4-FFF2-40B4-BE49-F238E27FC236}">
                <a16:creationId xmlns:a16="http://schemas.microsoft.com/office/drawing/2014/main" id="{D8BB5BD0-9631-43ED-9CEE-0C9D927CD558}"/>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5334F"/>
                </a:solidFill>
                <a:latin typeface="Arial"/>
                <a:ea typeface="Arial"/>
                <a:cs typeface="Arial"/>
              </a:defRPr>
            </a:defPPr>
          </a:lstStyle>
          <a:p xmlns:a="http://schemas.openxmlformats.org/drawingml/2006/main">
            <a:pPr algn="l">
              <a:defRPr sz="3300" b="1">
                <a:solidFill>
                  <a:srgbClr val="15334F"/>
                </a:solidFill>
                <a:latin typeface="Arial"/>
                <a:ea typeface="Arial"/>
                <a:cs typeface="Arial"/>
              </a:defRPr>
            </a:pPr>
            <a:r>
              <a:rPr sz="3300" b="1">
                <a:solidFill>
                  <a:srgbClr val="15334F"/>
                </a:solidFill>
                <a:latin typeface="Arial"/>
                <a:ea typeface="Arial"/>
                <a:cs typeface="Arial"/>
              </a:rPr>
              <a:t>Ejemplo de resultado para el Gol 2015</a:t>
            </a:r>
          </a:p>
        </p:txBody>
      </p:sp>
      <p:sp>
        <p:nvSpPr>
          <p:cNvPr id="2" name="05">
            <a:extLst xmlns:a="http://schemas.openxmlformats.org/drawingml/2006/main">
              <a:ext uri="{FF2B5EF4-FFF2-40B4-BE49-F238E27FC236}">
                <a16:creationId xmlns:a16="http://schemas.microsoft.com/office/drawing/2014/main" id="{12BDDC95-6E53-45FA-9204-F345DF739F6A}"/>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2CAE2B26-6B34-4E87-800D-FC8DD36D8B41}"/>
              </a:ext>
            </a:extLst>
          </p:cNvPr>
          <p:cNvGraphicFramePr/>
          <p:nvPr/>
        </p:nvGraphicFramePr>
        <p:xfrm>
          <a:off xmlns:a="http://schemas.openxmlformats.org/drawingml/2006/main" x="609600" y="1809750"/>
          <a:ext xmlns:a="http://schemas.openxmlformats.org/drawingml/2006/main" cx="10972800" cy="3143250"/>
        </p:xfrm>
        <a:graphic xmlns:a="http://schemas.openxmlformats.org/drawingml/2006/main">
          <a:graphicData uri="http://schemas.openxmlformats.org/drawingml/2006/table">
            <a:tbl>
              <a:tblPr/>
              <a:tblGrid>
                <a:gridCol w="4286250"/>
                <a:gridCol w="4095750"/>
                <a:gridCol w="2590800"/>
              </a:tblGrid>
              <a:tr h="785813">
                <a:tc>
                  <a:txBody>
                    <a:bodyPr/>
                    <a:lstStyle/>
                    <a:p>
                      <a:r>
                        <a:rPr sz="1950" b="1">
                          <a:solidFill>
                            <a:srgbClr val="FFFFFF"/>
                          </a:solidFill>
                          <a:latin typeface="Arial"/>
                          <a:ea typeface="Arial"/>
                          <a:cs typeface="Arial"/>
                        </a:rPr>
                        <a:t>Pieza compatible</a:t>
                      </a:r>
                    </a:p>
                  </a:txBody>
                  <a:tcPr marL="91440" marR="91440" marT="45720" marB="45720" anchor="ctr">
                    <a:solidFill>
                      <a:srgbClr val="1F4F8F"/>
                    </a:solidFill>
                  </a:tcPr>
                </a:tc>
                <a:tc>
                  <a:txBody>
                    <a:bodyPr/>
                    <a:lstStyle/>
                    <a:p>
                      <a:r>
                        <a:rPr sz="1950" b="1">
                          <a:solidFill>
                            <a:srgbClr val="FFFFFF"/>
                          </a:solidFill>
                          <a:latin typeface="Arial"/>
                          <a:ea typeface="Arial"/>
                          <a:cs typeface="Arial"/>
                        </a:rPr>
                        <a:t>Código canónico</a:t>
                      </a:r>
                    </a:p>
                  </a:txBody>
                  <a:tcPr marL="91440" marR="91440" marT="45720" marB="45720" anchor="ctr">
                    <a:solidFill>
                      <a:srgbClr val="1F4F8F"/>
                    </a:solidFill>
                  </a:tcPr>
                </a:tc>
                <a:tc>
                  <a:txBody>
                    <a:bodyPr/>
                    <a:lstStyle/>
                    <a:p>
                      <a:r>
                        <a:rPr sz="1950" b="1">
                          <a:solidFill>
                            <a:srgbClr val="FFFFFF"/>
                          </a:solidFill>
                          <a:latin typeface="Arial"/>
                          <a:ea typeface="Arial"/>
                          <a:cs typeface="Arial"/>
                        </a:rPr>
                        <a:t>Sistema</a:t>
                      </a:r>
                    </a:p>
                  </a:txBody>
                  <a:tcPr marL="91440" marR="91440" marT="45720" marB="45720" anchor="ctr">
                    <a:solidFill>
                      <a:srgbClr val="1F4F8F"/>
                    </a:solidFill>
                  </a:tcPr>
                </a:tc>
              </a:tr>
              <a:tr h="785813">
                <a:tc>
                  <a:txBody>
                    <a:bodyPr/>
                    <a:lstStyle/>
                    <a:p>
                      <a:r>
                        <a:rPr sz="1950" b="0">
                          <a:solidFill>
                            <a:srgbClr val="15334F"/>
                          </a:solidFill>
                          <a:latin typeface="Arial"/>
                          <a:ea typeface="Arial"/>
                          <a:cs typeface="Arial"/>
                        </a:rPr>
                        <a:t>Pastillas de freno delanteras</a:t>
                      </a:r>
                    </a:p>
                  </a:txBody>
                  <a:tcPr marL="91440" marR="91440" marT="45720" marB="45720" anchor="ctr">
                    <a:solidFill>
                      <a:srgbClr val="F2F6FA"/>
                    </a:solidFill>
                  </a:tcPr>
                </a:tc>
                <a:tc>
                  <a:txBody>
                    <a:bodyPr/>
                    <a:lstStyle/>
                    <a:p>
                      <a:r>
                        <a:rPr sz="1950" b="0">
                          <a:solidFill>
                            <a:srgbClr val="15334F"/>
                          </a:solidFill>
                          <a:latin typeface="Arial"/>
                          <a:ea typeface="Arial"/>
                          <a:cs typeface="Arial"/>
                        </a:rPr>
                        <a:t>PAST-VW-GOL-DEL</a:t>
                      </a:r>
                    </a:p>
                  </a:txBody>
                  <a:tcPr marL="91440" marR="91440" marT="45720" marB="45720" anchor="ctr">
                    <a:solidFill>
                      <a:srgbClr val="F2F6FA"/>
                    </a:solidFill>
                  </a:tcPr>
                </a:tc>
                <a:tc>
                  <a:txBody>
                    <a:bodyPr/>
                    <a:lstStyle/>
                    <a:p>
                      <a:r>
                        <a:rPr sz="1950" b="0">
                          <a:solidFill>
                            <a:srgbClr val="15334F"/>
                          </a:solidFill>
                          <a:latin typeface="Arial"/>
                          <a:ea typeface="Arial"/>
                          <a:cs typeface="Arial"/>
                        </a:rPr>
                        <a:t>Frenos</a:t>
                      </a:r>
                    </a:p>
                  </a:txBody>
                  <a:tcPr marL="91440" marR="91440" marT="45720" marB="45720" anchor="ctr">
                    <a:solidFill>
                      <a:srgbClr val="F2F6FA"/>
                    </a:solidFill>
                  </a:tcPr>
                </a:tc>
              </a:tr>
              <a:tr h="785813">
                <a:tc>
                  <a:txBody>
                    <a:bodyPr/>
                    <a:lstStyle/>
                    <a:p>
                      <a:r>
                        <a:rPr sz="1950" b="0">
                          <a:solidFill>
                            <a:srgbClr val="15334F"/>
                          </a:solidFill>
                          <a:latin typeface="Arial"/>
                          <a:ea typeface="Arial"/>
                          <a:cs typeface="Arial"/>
                        </a:rPr>
                        <a:t>Filtro de aceite motor 1.6</a:t>
                      </a:r>
                    </a:p>
                  </a:txBody>
                  <a:tcPr marL="91440" marR="91440" marT="45720" marB="45720" anchor="ctr">
                    <a:solidFill>
                      <a:srgbClr val="FFFFFF"/>
                    </a:solidFill>
                  </a:tcPr>
                </a:tc>
                <a:tc>
                  <a:txBody>
                    <a:bodyPr/>
                    <a:lstStyle/>
                    <a:p>
                      <a:r>
                        <a:rPr sz="1950" b="0">
                          <a:solidFill>
                            <a:srgbClr val="15334F"/>
                          </a:solidFill>
                          <a:latin typeface="Arial"/>
                          <a:ea typeface="Arial"/>
                          <a:cs typeface="Arial"/>
                        </a:rPr>
                        <a:t>FILT-ACE-VW-16</a:t>
                      </a:r>
                    </a:p>
                  </a:txBody>
                  <a:tcPr marL="91440" marR="91440" marT="45720" marB="45720" anchor="ctr">
                    <a:solidFill>
                      <a:srgbClr val="FFFFFF"/>
                    </a:solidFill>
                  </a:tcPr>
                </a:tc>
                <a:tc>
                  <a:txBody>
                    <a:bodyPr/>
                    <a:lstStyle/>
                    <a:p>
                      <a:r>
                        <a:rPr sz="1950" b="0">
                          <a:solidFill>
                            <a:srgbClr val="15334F"/>
                          </a:solidFill>
                          <a:latin typeface="Arial"/>
                          <a:ea typeface="Arial"/>
                          <a:cs typeface="Arial"/>
                        </a:rPr>
                        <a:t>Motor</a:t>
                      </a:r>
                    </a:p>
                  </a:txBody>
                  <a:tcPr marL="91440" marR="91440" marT="45720" marB="45720" anchor="ctr">
                    <a:solidFill>
                      <a:srgbClr val="FFFFFF"/>
                    </a:solidFill>
                  </a:tcPr>
                </a:tc>
              </a:tr>
              <a:tr h="785813">
                <a:tc>
                  <a:txBody>
                    <a:bodyPr/>
                    <a:lstStyle/>
                    <a:p>
                      <a:r>
                        <a:rPr sz="1950" b="0">
                          <a:solidFill>
                            <a:srgbClr val="15334F"/>
                          </a:solidFill>
                          <a:latin typeface="Arial"/>
                          <a:ea typeface="Arial"/>
                          <a:cs typeface="Arial"/>
                        </a:rPr>
                        <a:t>Bomba de agua</a:t>
                      </a:r>
                    </a:p>
                  </a:txBody>
                  <a:tcPr marL="91440" marR="91440" marT="45720" marB="45720" anchor="ctr">
                    <a:solidFill>
                      <a:srgbClr val="F2F6FA"/>
                    </a:solidFill>
                  </a:tcPr>
                </a:tc>
                <a:tc>
                  <a:txBody>
                    <a:bodyPr/>
                    <a:lstStyle/>
                    <a:p>
                      <a:r>
                        <a:rPr sz="1950" b="0">
                          <a:solidFill>
                            <a:srgbClr val="15334F"/>
                          </a:solidFill>
                          <a:latin typeface="Arial"/>
                          <a:ea typeface="Arial"/>
                          <a:cs typeface="Arial"/>
                        </a:rPr>
                        <a:t>BOMB-AGUA-VW-16</a:t>
                      </a:r>
                    </a:p>
                  </a:txBody>
                  <a:tcPr marL="91440" marR="91440" marT="45720" marB="45720" anchor="ctr">
                    <a:solidFill>
                      <a:srgbClr val="F2F6FA"/>
                    </a:solidFill>
                  </a:tcPr>
                </a:tc>
                <a:tc>
                  <a:txBody>
                    <a:bodyPr/>
                    <a:lstStyle/>
                    <a:p>
                      <a:r>
                        <a:rPr sz="1950" b="0">
                          <a:solidFill>
                            <a:srgbClr val="15334F"/>
                          </a:solidFill>
                          <a:latin typeface="Arial"/>
                          <a:ea typeface="Arial"/>
                          <a:cs typeface="Arial"/>
                        </a:rPr>
                        <a:t>Refrigeración</a:t>
                      </a:r>
                    </a:p>
                  </a:txBody>
                  <a:tcPr marL="91440" marR="91440" marT="45720" marB="45720" anchor="ctr">
                    <a:solidFill>
                      <a:srgbClr val="F2F6FA"/>
                    </a:solidFill>
                  </a:tcPr>
                </a:tc>
              </a:tr>
            </a:tbl>
          </a:graphicData>
        </a:graphic>
      </p:graphicFrame>
      <p:sp>
        <p:nvSpPr>
          <p:cNvPr id="4" name="Las fichas incluyen aplicaciones y equiv">
            <a:extLst xmlns:a="http://schemas.openxmlformats.org/drawingml/2006/main">
              <a:ext uri="{FF2B5EF4-FFF2-40B4-BE49-F238E27FC236}">
                <a16:creationId xmlns:a16="http://schemas.microsoft.com/office/drawing/2014/main" id="{85D04C0A-897C-4787-9EAC-771611E4A442}"/>
              </a:ext>
            </a:extLst>
          </p:cNvPr>
          <p:cNvSpPr>
            <a:spLocks xmlns:a="http://schemas.openxmlformats.org/drawingml/2006/main" noGrp="1"/>
          </p:cNvSpPr>
          <p:nvPr/>
        </p:nvSpPr>
        <p:spPr>
          <a:xfrm xmlns:a="http://schemas.openxmlformats.org/drawingml/2006/main">
            <a:off x="609600" y="52863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53697A"/>
                </a:solidFill>
                <a:latin typeface="Arial"/>
                <a:ea typeface="Arial"/>
                <a:cs typeface="Arial"/>
              </a:defRPr>
            </a:defPPr>
          </a:lstStyle>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Las fichas incluyen aplicaciones y equivalencias.</a:t>
            </a:r>
          </a:p>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Ejemplo: 5U0698151 y FDB1636 para las pastillas delanteras.</a:t>
            </a:r>
          </a:p>
        </p:txBody>
      </p:sp>
    </p:spTree>
    <p:extLst>
      <p:ext uri="{BB962C8B-B14F-4D97-AF65-F5344CB8AC3E}">
        <p14:creationId xmlns:p14="http://schemas.microsoft.com/office/powerpoint/2010/main" val="19109310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Casos de uso como ejemplos">
            <a:extLst xmlns:a="http://schemas.openxmlformats.org/drawingml/2006/main">
              <a:ext uri="{FF2B5EF4-FFF2-40B4-BE49-F238E27FC236}">
                <a16:creationId xmlns:a16="http://schemas.microsoft.com/office/drawing/2014/main" id="{B693172B-743A-4275-ACBC-1B688C60FC48}"/>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5334F"/>
                </a:solidFill>
                <a:latin typeface="Arial"/>
                <a:ea typeface="Arial"/>
                <a:cs typeface="Arial"/>
              </a:defRPr>
            </a:defPPr>
          </a:lstStyle>
          <a:p xmlns:a="http://schemas.openxmlformats.org/drawingml/2006/main">
            <a:pPr algn="l">
              <a:defRPr sz="3300" b="1">
                <a:solidFill>
                  <a:srgbClr val="15334F"/>
                </a:solidFill>
                <a:latin typeface="Arial"/>
                <a:ea typeface="Arial"/>
                <a:cs typeface="Arial"/>
              </a:defRPr>
            </a:pPr>
            <a:r>
              <a:rPr sz="3300" b="1">
                <a:solidFill>
                  <a:srgbClr val="15334F"/>
                </a:solidFill>
                <a:latin typeface="Arial"/>
                <a:ea typeface="Arial"/>
                <a:cs typeface="Arial"/>
              </a:rPr>
              <a:t>Casos de uso como ejemplos</a:t>
            </a:r>
          </a:p>
        </p:txBody>
      </p:sp>
      <p:sp>
        <p:nvSpPr>
          <p:cNvPr id="2" name="06">
            <a:extLst xmlns:a="http://schemas.openxmlformats.org/drawingml/2006/main">
              <a:ext uri="{FF2B5EF4-FFF2-40B4-BE49-F238E27FC236}">
                <a16:creationId xmlns:a16="http://schemas.microsoft.com/office/drawing/2014/main" id="{D1E3C214-3A8A-4CB1-A522-3FDC3E2F1761}"/>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AA050EB8-B441-4852-80DE-CBEE3D2F9A95}"/>
              </a:ext>
            </a:extLst>
          </p:cNvPr>
          <p:cNvGraphicFramePr/>
          <p:nvPr/>
        </p:nvGraphicFramePr>
        <p:xfrm>
          <a:off xmlns:a="http://schemas.openxmlformats.org/drawingml/2006/main" x="609600" y="1714500"/>
          <a:ext xmlns:a="http://schemas.openxmlformats.org/drawingml/2006/main" cx="10972800" cy="3943350"/>
        </p:xfrm>
        <a:graphic xmlns:a="http://schemas.openxmlformats.org/drawingml/2006/main">
          <a:graphicData uri="http://schemas.openxmlformats.org/drawingml/2006/table">
            <a:tbl>
              <a:tblPr/>
              <a:tblGrid>
                <a:gridCol w="3429000"/>
                <a:gridCol w="3762375"/>
                <a:gridCol w="3781425"/>
              </a:tblGrid>
              <a:tr h="985838">
                <a:tc>
                  <a:txBody>
                    <a:bodyPr/>
                    <a:lstStyle/>
                    <a:p>
                      <a:r>
                        <a:rPr sz="1875" b="1">
                          <a:solidFill>
                            <a:srgbClr val="FFFFFF"/>
                          </a:solidFill>
                          <a:latin typeface="Arial"/>
                          <a:ea typeface="Arial"/>
                          <a:cs typeface="Arial"/>
                        </a:rPr>
                        <a:t>Usuario y objetivo</a:t>
                      </a:r>
                    </a:p>
                  </a:txBody>
                  <a:tcPr marL="91440" marR="91440" marT="45720" marB="45720" anchor="ctr">
                    <a:solidFill>
                      <a:srgbClr val="1F4F8F"/>
                    </a:solidFill>
                  </a:tcPr>
                </a:tc>
                <a:tc>
                  <a:txBody>
                    <a:bodyPr/>
                    <a:lstStyle/>
                    <a:p>
                      <a:r>
                        <a:rPr sz="1875" b="1">
                          <a:solidFill>
                            <a:srgbClr val="FFFFFF"/>
                          </a:solidFill>
                          <a:latin typeface="Arial"/>
                          <a:ea typeface="Arial"/>
                          <a:cs typeface="Arial"/>
                        </a:rPr>
                        <a:t>Ejemplo</a:t>
                      </a:r>
                    </a:p>
                  </a:txBody>
                  <a:tcPr marL="91440" marR="91440" marT="45720" marB="45720" anchor="ctr">
                    <a:solidFill>
                      <a:srgbClr val="1F4F8F"/>
                    </a:solidFill>
                  </a:tcPr>
                </a:tc>
                <a:tc>
                  <a:txBody>
                    <a:bodyPr/>
                    <a:lstStyle/>
                    <a:p>
                      <a:r>
                        <a:rPr sz="1875" b="1">
                          <a:solidFill>
                            <a:srgbClr val="FFFFFF"/>
                          </a:solidFill>
                          <a:latin typeface="Arial"/>
                          <a:ea typeface="Arial"/>
                          <a:cs typeface="Arial"/>
                        </a:rPr>
                        <a:t>Resultado esperado</a:t>
                      </a:r>
                    </a:p>
                  </a:txBody>
                  <a:tcPr marL="91440" marR="91440" marT="45720" marB="45720" anchor="ctr">
                    <a:solidFill>
                      <a:srgbClr val="1F4F8F"/>
                    </a:solidFill>
                  </a:tcPr>
                </a:tc>
              </a:tr>
              <a:tr h="985838">
                <a:tc>
                  <a:txBody>
                    <a:bodyPr/>
                    <a:lstStyle/>
                    <a:p>
                      <a:r>
                        <a:rPr sz="1875" b="0">
                          <a:solidFill>
                            <a:srgbClr val="15334F"/>
                          </a:solidFill>
                          <a:latin typeface="Arial"/>
                          <a:ea typeface="Arial"/>
                          <a:cs typeface="Arial"/>
                        </a:rPr>
                        <a:t>Visitante: consultar piezas</a:t>
                      </a:r>
                    </a:p>
                  </a:txBody>
                  <a:tcPr marL="91440" marR="91440" marT="45720" marB="45720" anchor="ctr">
                    <a:solidFill>
                      <a:srgbClr val="F2F6FA"/>
                    </a:solidFill>
                  </a:tcPr>
                </a:tc>
                <a:tc>
                  <a:txBody>
                    <a:bodyPr/>
                    <a:lstStyle/>
                    <a:p>
                      <a:r>
                        <a:rPr sz="1875" b="0">
                          <a:solidFill>
                            <a:srgbClr val="15334F"/>
                          </a:solidFill>
                          <a:latin typeface="Arial"/>
                          <a:ea typeface="Arial"/>
                          <a:cs typeface="Arial"/>
                        </a:rPr>
                        <a:t>Peugeot 208 2019, motor 1.6</a:t>
                      </a:r>
                    </a:p>
                  </a:txBody>
                  <a:tcPr marL="91440" marR="91440" marT="45720" marB="45720" anchor="ctr">
                    <a:solidFill>
                      <a:srgbClr val="F2F6FA"/>
                    </a:solidFill>
                  </a:tcPr>
                </a:tc>
                <a:tc>
                  <a:txBody>
                    <a:bodyPr/>
                    <a:lstStyle/>
                    <a:p>
                      <a:r>
                        <a:rPr sz="1875" b="0">
                          <a:solidFill>
                            <a:srgbClr val="15334F"/>
                          </a:solidFill>
                          <a:latin typeface="Arial"/>
                          <a:ea typeface="Arial"/>
                          <a:cs typeface="Arial"/>
                        </a:rPr>
                        <a:t>Piezas compatibles, sin historial</a:t>
                      </a:r>
                    </a:p>
                  </a:txBody>
                  <a:tcPr marL="91440" marR="91440" marT="45720" marB="45720" anchor="ctr">
                    <a:solidFill>
                      <a:srgbClr val="F2F6FA"/>
                    </a:solidFill>
                  </a:tcPr>
                </a:tc>
              </a:tr>
              <a:tr h="985838">
                <a:tc>
                  <a:txBody>
                    <a:bodyPr/>
                    <a:lstStyle/>
                    <a:p>
                      <a:r>
                        <a:rPr sz="1875" b="0">
                          <a:solidFill>
                            <a:srgbClr val="15334F"/>
                          </a:solidFill>
                          <a:latin typeface="Arial"/>
                          <a:ea typeface="Arial"/>
                          <a:cs typeface="Arial"/>
                        </a:rPr>
                        <a:t>Cliente: consultar por sistema</a:t>
                      </a:r>
                    </a:p>
                  </a:txBody>
                  <a:tcPr marL="91440" marR="91440" marT="45720" marB="45720" anchor="ctr">
                    <a:solidFill>
                      <a:srgbClr val="FFFFFF"/>
                    </a:solidFill>
                  </a:tcPr>
                </a:tc>
                <a:tc>
                  <a:txBody>
                    <a:bodyPr/>
                    <a:lstStyle/>
                    <a:p>
                      <a:r>
                        <a:rPr sz="1875" b="0">
                          <a:solidFill>
                            <a:srgbClr val="15334F"/>
                          </a:solidFill>
                          <a:latin typeface="Arial"/>
                          <a:ea typeface="Arial"/>
                          <a:cs typeface="Arial"/>
                        </a:rPr>
                        <a:t>Gol 2015 1.6, filtro Frenos</a:t>
                      </a:r>
                    </a:p>
                  </a:txBody>
                  <a:tcPr marL="91440" marR="91440" marT="45720" marB="45720" anchor="ctr">
                    <a:solidFill>
                      <a:srgbClr val="FFFFFF"/>
                    </a:solidFill>
                  </a:tcPr>
                </a:tc>
                <a:tc>
                  <a:txBody>
                    <a:bodyPr/>
                    <a:lstStyle/>
                    <a:p>
                      <a:r>
                        <a:rPr sz="1875" b="0">
                          <a:solidFill>
                            <a:srgbClr val="15334F"/>
                          </a:solidFill>
                          <a:latin typeface="Arial"/>
                          <a:ea typeface="Arial"/>
                          <a:cs typeface="Arial"/>
                        </a:rPr>
                        <a:t>Pastillas y discos compatibles</a:t>
                      </a:r>
                    </a:p>
                  </a:txBody>
                  <a:tcPr marL="91440" marR="91440" marT="45720" marB="45720" anchor="ctr">
                    <a:solidFill>
                      <a:srgbClr val="FFFFFF"/>
                    </a:solidFill>
                  </a:tcPr>
                </a:tc>
              </a:tr>
              <a:tr h="985838">
                <a:tc>
                  <a:txBody>
                    <a:bodyPr/>
                    <a:lstStyle/>
                    <a:p>
                      <a:r>
                        <a:rPr sz="1875" b="0">
                          <a:solidFill>
                            <a:srgbClr val="15334F"/>
                          </a:solidFill>
                          <a:latin typeface="Arial"/>
                          <a:ea typeface="Arial"/>
                          <a:cs typeface="Arial"/>
                        </a:rPr>
                        <a:t>Cliente: ampliar su garage</a:t>
                      </a:r>
                    </a:p>
                  </a:txBody>
                  <a:tcPr marL="91440" marR="91440" marT="45720" marB="45720" anchor="ctr">
                    <a:solidFill>
                      <a:srgbClr val="F2F6FA"/>
                    </a:solidFill>
                  </a:tcPr>
                </a:tc>
                <a:tc>
                  <a:txBody>
                    <a:bodyPr/>
                    <a:lstStyle/>
                    <a:p>
                      <a:r>
                        <a:rPr sz="1875" b="0">
                          <a:solidFill>
                            <a:srgbClr val="15334F"/>
                          </a:solidFill>
                          <a:latin typeface="Arial"/>
                          <a:ea typeface="Arial"/>
                          <a:cs typeface="Arial"/>
                        </a:rPr>
                        <a:t>Corolla 2018 1.8, alias “El Corolla”</a:t>
                      </a:r>
                    </a:p>
                  </a:txBody>
                  <a:tcPr marL="91440" marR="91440" marT="45720" marB="45720" anchor="ctr">
                    <a:solidFill>
                      <a:srgbClr val="F2F6FA"/>
                    </a:solidFill>
                  </a:tcPr>
                </a:tc>
                <a:tc>
                  <a:txBody>
                    <a:bodyPr/>
                    <a:lstStyle/>
                    <a:p>
                      <a:r>
                        <a:rPr sz="1875" b="0">
                          <a:solidFill>
                            <a:srgbClr val="15334F"/>
                          </a:solidFill>
                          <a:latin typeface="Arial"/>
                          <a:ea typeface="Arial"/>
                          <a:cs typeface="Arial"/>
                        </a:rPr>
                        <a:t>Vehículo guardado para futuras consultas</a:t>
                      </a:r>
                    </a:p>
                  </a:txBody>
                  <a:tcPr marL="91440" marR="91440" marT="45720" marB="45720" anchor="ctr">
                    <a:solidFill>
                      <a:srgbClr val="F2F6FA"/>
                    </a:solidFill>
                  </a:tcPr>
                </a:tc>
              </a:tr>
            </a:tbl>
          </a:graphicData>
        </a:graphic>
      </p:graphicFrame>
    </p:spTree>
    <p:extLst>
      <p:ext uri="{BB962C8B-B14F-4D97-AF65-F5344CB8AC3E}">
        <p14:creationId xmlns:p14="http://schemas.microsoft.com/office/powerpoint/2010/main" val="2205789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Validaciones y caminos alternativos">
            <a:extLst xmlns:a="http://schemas.openxmlformats.org/drawingml/2006/main">
              <a:ext uri="{FF2B5EF4-FFF2-40B4-BE49-F238E27FC236}">
                <a16:creationId xmlns:a16="http://schemas.microsoft.com/office/drawing/2014/main" id="{D1DC97AC-8EBF-480E-875C-1EBF0FCAD91F}"/>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5334F"/>
                </a:solidFill>
                <a:latin typeface="Arial"/>
                <a:ea typeface="Arial"/>
                <a:cs typeface="Arial"/>
              </a:defRPr>
            </a:defPPr>
          </a:lstStyle>
          <a:p xmlns:a="http://schemas.openxmlformats.org/drawingml/2006/main">
            <a:pPr algn="l">
              <a:defRPr sz="3300" b="1">
                <a:solidFill>
                  <a:srgbClr val="15334F"/>
                </a:solidFill>
                <a:latin typeface="Arial"/>
                <a:ea typeface="Arial"/>
                <a:cs typeface="Arial"/>
              </a:defRPr>
            </a:pPr>
            <a:r>
              <a:rPr sz="3300" b="1">
                <a:solidFill>
                  <a:srgbClr val="15334F"/>
                </a:solidFill>
                <a:latin typeface="Arial"/>
                <a:ea typeface="Arial"/>
                <a:cs typeface="Arial"/>
              </a:rPr>
              <a:t>Validaciones y caminos alternativos</a:t>
            </a:r>
          </a:p>
        </p:txBody>
      </p:sp>
      <p:sp>
        <p:nvSpPr>
          <p:cNvPr id="2" name="07">
            <a:extLst xmlns:a="http://schemas.openxmlformats.org/drawingml/2006/main">
              <a:ext uri="{FF2B5EF4-FFF2-40B4-BE49-F238E27FC236}">
                <a16:creationId xmlns:a16="http://schemas.microsoft.com/office/drawing/2014/main" id="{986CDFED-1972-4201-8DA1-B77D2D353A80}"/>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C517362E-03C0-4B8B-83E9-6882BFBDBA22}"/>
              </a:ext>
            </a:extLst>
          </p:cNvPr>
          <p:cNvGraphicFramePr/>
          <p:nvPr/>
        </p:nvGraphicFramePr>
        <p:xfrm>
          <a:off xmlns:a="http://schemas.openxmlformats.org/drawingml/2006/main" x="609600" y="1714500"/>
          <a:ext xmlns:a="http://schemas.openxmlformats.org/drawingml/2006/main" cx="10972800" cy="3924300"/>
        </p:xfrm>
        <a:graphic xmlns:a="http://schemas.openxmlformats.org/drawingml/2006/main">
          <a:graphicData uri="http://schemas.openxmlformats.org/drawingml/2006/table">
            <a:tbl>
              <a:tblPr/>
              <a:tblGrid>
                <a:gridCol w="5619750"/>
                <a:gridCol w="5353050"/>
              </a:tblGrid>
              <a:tr h="784860">
                <a:tc>
                  <a:txBody>
                    <a:bodyPr/>
                    <a:lstStyle/>
                    <a:p>
                      <a:r>
                        <a:rPr sz="1950" b="1">
                          <a:solidFill>
                            <a:srgbClr val="FFFFFF"/>
                          </a:solidFill>
                          <a:latin typeface="Arial"/>
                          <a:ea typeface="Arial"/>
                          <a:cs typeface="Arial"/>
                        </a:rPr>
                        <a:t>Situación</a:t>
                      </a:r>
                    </a:p>
                  </a:txBody>
                  <a:tcPr marL="91440" marR="91440" marT="45720" marB="45720" anchor="ctr">
                    <a:solidFill>
                      <a:srgbClr val="1F4F8F"/>
                    </a:solidFill>
                  </a:tcPr>
                </a:tc>
                <a:tc>
                  <a:txBody>
                    <a:bodyPr/>
                    <a:lstStyle/>
                    <a:p>
                      <a:r>
                        <a:rPr sz="1950" b="1">
                          <a:solidFill>
                            <a:srgbClr val="FFFFFF"/>
                          </a:solidFill>
                          <a:latin typeface="Arial"/>
                          <a:ea typeface="Arial"/>
                          <a:cs typeface="Arial"/>
                        </a:rPr>
                        <a:t>Respuesta de la aplicación</a:t>
                      </a:r>
                    </a:p>
                  </a:txBody>
                  <a:tcPr marL="91440" marR="91440" marT="45720" marB="45720" anchor="ctr">
                    <a:solidFill>
                      <a:srgbClr val="1F4F8F"/>
                    </a:solidFill>
                  </a:tcPr>
                </a:tc>
              </a:tr>
              <a:tr h="784860">
                <a:tc>
                  <a:txBody>
                    <a:bodyPr/>
                    <a:lstStyle/>
                    <a:p>
                      <a:r>
                        <a:rPr sz="1950" b="0">
                          <a:solidFill>
                            <a:srgbClr val="15334F"/>
                          </a:solidFill>
                          <a:latin typeface="Arial"/>
                          <a:ea typeface="Arial"/>
                          <a:cs typeface="Arial"/>
                        </a:rPr>
                        <a:t>Vehículo incompleto o descripción corta</a:t>
                      </a:r>
                    </a:p>
                  </a:txBody>
                  <a:tcPr marL="91440" marR="91440" marT="45720" marB="45720" anchor="ctr">
                    <a:solidFill>
                      <a:srgbClr val="F2F6FA"/>
                    </a:solidFill>
                  </a:tcPr>
                </a:tc>
                <a:tc>
                  <a:txBody>
                    <a:bodyPr/>
                    <a:lstStyle/>
                    <a:p>
                      <a:r>
                        <a:rPr sz="1950" b="0">
                          <a:solidFill>
                            <a:srgbClr val="15334F"/>
                          </a:solidFill>
                          <a:latin typeface="Arial"/>
                          <a:ea typeface="Arial"/>
                          <a:cs typeface="Arial"/>
                        </a:rPr>
                        <a:t>El formulario pide completar los datos</a:t>
                      </a:r>
                    </a:p>
                  </a:txBody>
                  <a:tcPr marL="91440" marR="91440" marT="45720" marB="45720" anchor="ctr">
                    <a:solidFill>
                      <a:srgbClr val="F2F6FA"/>
                    </a:solidFill>
                  </a:tcPr>
                </a:tc>
              </a:tr>
              <a:tr h="784860">
                <a:tc>
                  <a:txBody>
                    <a:bodyPr/>
                    <a:lstStyle/>
                    <a:p>
                      <a:r>
                        <a:rPr sz="1950" b="0">
                          <a:solidFill>
                            <a:srgbClr val="15334F"/>
                          </a:solidFill>
                          <a:latin typeface="Arial"/>
                          <a:ea typeface="Arial"/>
                          <a:cs typeface="Arial"/>
                        </a:rPr>
                        <a:t>Vehículo repetido en el garage</a:t>
                      </a:r>
                    </a:p>
                  </a:txBody>
                  <a:tcPr marL="91440" marR="91440" marT="45720" marB="45720" anchor="ctr">
                    <a:solidFill>
                      <a:srgbClr val="FFFFFF"/>
                    </a:solidFill>
                  </a:tcPr>
                </a:tc>
                <a:tc>
                  <a:txBody>
                    <a:bodyPr/>
                    <a:lstStyle/>
                    <a:p>
                      <a:r>
                        <a:rPr sz="1950" b="0">
                          <a:solidFill>
                            <a:srgbClr val="15334F"/>
                          </a:solidFill>
                          <a:latin typeface="Arial"/>
                          <a:ea typeface="Arial"/>
                          <a:cs typeface="Arial"/>
                        </a:rPr>
                        <a:t>El dominio rechaza el alta</a:t>
                      </a:r>
                    </a:p>
                  </a:txBody>
                  <a:tcPr marL="91440" marR="91440" marT="45720" marB="45720" anchor="ctr">
                    <a:solidFill>
                      <a:srgbClr val="FFFFFF"/>
                    </a:solidFill>
                  </a:tcPr>
                </a:tc>
              </a:tr>
              <a:tr h="784860">
                <a:tc>
                  <a:txBody>
                    <a:bodyPr/>
                    <a:lstStyle/>
                    <a:p>
                      <a:r>
                        <a:rPr sz="1950" b="0">
                          <a:solidFill>
                            <a:srgbClr val="15334F"/>
                          </a:solidFill>
                          <a:latin typeface="Arial"/>
                          <a:ea typeface="Arial"/>
                          <a:cs typeface="Arial"/>
                        </a:rPr>
                        <a:t>Email o contraseña incorrectos</a:t>
                      </a:r>
                    </a:p>
                  </a:txBody>
                  <a:tcPr marL="91440" marR="91440" marT="45720" marB="45720" anchor="ctr">
                    <a:solidFill>
                      <a:srgbClr val="F2F6FA"/>
                    </a:solidFill>
                  </a:tcPr>
                </a:tc>
                <a:tc>
                  <a:txBody>
                    <a:bodyPr/>
                    <a:lstStyle/>
                    <a:p>
                      <a:r>
                        <a:rPr sz="1950" b="0">
                          <a:solidFill>
                            <a:srgbClr val="15334F"/>
                          </a:solidFill>
                          <a:latin typeface="Arial"/>
                          <a:ea typeface="Arial"/>
                          <a:cs typeface="Arial"/>
                        </a:rPr>
                        <a:t>El login muestra un mensaje de error</a:t>
                      </a:r>
                    </a:p>
                  </a:txBody>
                  <a:tcPr marL="91440" marR="91440" marT="45720" marB="45720" anchor="ctr">
                    <a:solidFill>
                      <a:srgbClr val="F2F6FA"/>
                    </a:solidFill>
                  </a:tcPr>
                </a:tc>
              </a:tr>
              <a:tr h="784860">
                <a:tc>
                  <a:txBody>
                    <a:bodyPr/>
                    <a:lstStyle/>
                    <a:p>
                      <a:r>
                        <a:rPr sz="1950" b="0">
                          <a:solidFill>
                            <a:srgbClr val="15334F"/>
                          </a:solidFill>
                          <a:latin typeface="Arial"/>
                          <a:ea typeface="Arial"/>
                          <a:cs typeface="Arial"/>
                        </a:rPr>
                        <a:t>Búsqueda registrada sin piezas compatibles</a:t>
                      </a:r>
                    </a:p>
                  </a:txBody>
                  <a:tcPr marL="91440" marR="91440" marT="45720" marB="45720" anchor="ctr">
                    <a:solidFill>
                      <a:srgbClr val="FFFFFF"/>
                    </a:solidFill>
                  </a:tcPr>
                </a:tc>
                <a:tc>
                  <a:txBody>
                    <a:bodyPr/>
                    <a:lstStyle/>
                    <a:p>
                      <a:r>
                        <a:rPr sz="1950" b="0">
                          <a:solidFill>
                            <a:srgbClr val="15334F"/>
                          </a:solidFill>
                          <a:latin typeface="Arial"/>
                          <a:ea typeface="Arial"/>
                          <a:cs typeface="Arial"/>
                        </a:rPr>
                        <a:t>La búsqueda queda en estado Fallida</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5017954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91DDE156-E10E-405B-80C9-771F86F1E735}"/>
              </a:ext>
            </a:extLst>
          </p:cNvPr>
          <p:cNvCxnSpPr>
            <a:stCxn xmlns:a="http://schemas.openxmlformats.org/drawingml/2006/main" id="5" idx="3"/>
            <a:endCxn xmlns:a="http://schemas.openxmlformats.org/drawingml/2006/main" id="8" idx="2"/>
          </p:cNvCxnSpPr>
          <p:nvPr/>
        </p:nvCxnSpPr>
        <p:spPr>
          <a:xfrm xmlns:a="http://schemas.openxmlformats.org/drawingml/2006/main" flipV="1">
            <a:off x="3848100" y="4505325"/>
            <a:ext cx="2776538" cy="304800"/>
          </a:xfrm>
          <a:prstGeom xmlns:a="http://schemas.openxmlformats.org/drawingml/2006/main" prst="bentConnector2">
            <a:avLst/>
          </a:prstGeom>
          <a:ln xmlns:a="http://schemas.openxmlformats.org/drawingml/2006/main" w="20955">
            <a:solidFill>
              <a:srgbClr val="1F4F8F"/>
            </a:solidFill>
            <a:tailEnd type="triangle" w="med" len="med"/>
          </a:ln>
        </p:spPr>
      </p:cxnSp>
      <p:cxnSp>
        <p:nvCxnSpPr>
          <p:cNvPr id="9" name="">
            <a:extLst xmlns:a="http://schemas.openxmlformats.org/drawingml/2006/main">
              <a:ext uri="{FF2B5EF4-FFF2-40B4-BE49-F238E27FC236}">
                <a16:creationId xmlns:a16="http://schemas.microsoft.com/office/drawing/2014/main" id="{25248E00-186D-4251-8A73-64612D1A9D53}"/>
              </a:ext>
            </a:extLst>
          </p:cNvPr>
          <p:cNvCxnSpPr>
            <a:stCxn xmlns:a="http://schemas.openxmlformats.org/drawingml/2006/main" id="4" idx="3"/>
            <a:endCxn xmlns:a="http://schemas.openxmlformats.org/drawingml/2006/main" id="8" idx="1"/>
          </p:cNvCxnSpPr>
          <p:nvPr/>
        </p:nvCxnSpPr>
        <p:spPr>
          <a:xfrm xmlns:a="http://schemas.openxmlformats.org/drawingml/2006/main">
            <a:off x="3848100" y="3495675"/>
            <a:ext cx="1133475" cy="285750"/>
          </a:xfrm>
          <a:prstGeom xmlns:a="http://schemas.openxmlformats.org/drawingml/2006/main" prst="bentConnector3">
            <a:avLst>
              <a:gd name="adj1" fmla="val 50000"/>
            </a:avLst>
          </a:prstGeom>
          <a:ln xmlns:a="http://schemas.openxmlformats.org/drawingml/2006/main" w="20955">
            <a:solidFill>
              <a:srgbClr val="1F4F8F"/>
            </a:solidFill>
            <a:tailEnd type="triangle" w="med" len="med"/>
          </a:ln>
        </p:spPr>
      </p:cxnSp>
      <p:cxnSp>
        <p:nvCxnSpPr>
          <p:cNvPr id="7" name="">
            <a:extLst xmlns:a="http://schemas.openxmlformats.org/drawingml/2006/main">
              <a:ext uri="{FF2B5EF4-FFF2-40B4-BE49-F238E27FC236}">
                <a16:creationId xmlns:a16="http://schemas.microsoft.com/office/drawing/2014/main" id="{A3164E40-2D35-49B7-891E-2F4FE0C3CB61}"/>
              </a:ext>
            </a:extLst>
          </p:cNvPr>
          <p:cNvCxnSpPr>
            <a:stCxn xmlns:a="http://schemas.openxmlformats.org/drawingml/2006/main" id="4" idx="2"/>
            <a:endCxn xmlns:a="http://schemas.openxmlformats.org/drawingml/2006/main" id="5" idx="0"/>
          </p:cNvCxnSpPr>
          <p:nvPr/>
        </p:nvCxnSpPr>
        <p:spPr>
          <a:xfrm xmlns:a="http://schemas.openxmlformats.org/drawingml/2006/main">
            <a:off x="2228850" y="3933825"/>
            <a:ext cx="0" cy="438150"/>
          </a:xfrm>
          <a:prstGeom xmlns:a="http://schemas.openxmlformats.org/drawingml/2006/main" prst="straightConnector1">
            <a:avLst/>
          </a:prstGeom>
          <a:ln xmlns:a="http://schemas.openxmlformats.org/drawingml/2006/main" w="20955">
            <a:solidFill>
              <a:srgbClr val="1F4F8F"/>
            </a:solidFill>
            <a:tailEnd type="triangle" w="med" len="med"/>
          </a:ln>
        </p:spPr>
      </p:cxnSp>
      <p:cxnSp>
        <p:nvCxnSpPr>
          <p:cNvPr id="6" name="">
            <a:extLst xmlns:a="http://schemas.openxmlformats.org/drawingml/2006/main">
              <a:ext uri="{FF2B5EF4-FFF2-40B4-BE49-F238E27FC236}">
                <a16:creationId xmlns:a16="http://schemas.microsoft.com/office/drawing/2014/main" id="{3B89C087-0A0E-4652-A817-55DC17AC937E}"/>
              </a:ext>
            </a:extLst>
          </p:cNvPr>
          <p:cNvCxnSpPr>
            <a:stCxn xmlns:a="http://schemas.openxmlformats.org/drawingml/2006/main" id="3" idx="2"/>
            <a:endCxn xmlns:a="http://schemas.openxmlformats.org/drawingml/2006/main" id="4" idx="0"/>
          </p:cNvCxnSpPr>
          <p:nvPr/>
        </p:nvCxnSpPr>
        <p:spPr>
          <a:xfrm xmlns:a="http://schemas.openxmlformats.org/drawingml/2006/main">
            <a:off x="2228850" y="2619375"/>
            <a:ext cx="0" cy="438150"/>
          </a:xfrm>
          <a:prstGeom xmlns:a="http://schemas.openxmlformats.org/drawingml/2006/main" prst="straightConnector1">
            <a:avLst/>
          </a:prstGeom>
          <a:ln xmlns:a="http://schemas.openxmlformats.org/drawingml/2006/main" w="20955">
            <a:solidFill>
              <a:srgbClr val="1F4F8F"/>
            </a:solidFill>
            <a:tailEnd type="triangle" w="med" len="med"/>
          </a:ln>
        </p:spPr>
      </p:cxnSp>
      <p:sp>
        <p:nvSpPr>
          <p:cNvPr id="16" name="Arquitectura en capas">
            <a:extLst xmlns:a="http://schemas.openxmlformats.org/drawingml/2006/main">
              <a:ext uri="{FF2B5EF4-FFF2-40B4-BE49-F238E27FC236}">
                <a16:creationId xmlns:a16="http://schemas.microsoft.com/office/drawing/2014/main" id="{622B62C5-0C80-4140-B0A1-562BC648F83D}"/>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5334F"/>
                </a:solidFill>
                <a:latin typeface="Arial"/>
                <a:ea typeface="Arial"/>
                <a:cs typeface="Arial"/>
              </a:defRPr>
            </a:defPPr>
          </a:lstStyle>
          <a:p xmlns:a="http://schemas.openxmlformats.org/drawingml/2006/main">
            <a:pPr algn="l">
              <a:defRPr sz="3300" b="1">
                <a:solidFill>
                  <a:srgbClr val="15334F"/>
                </a:solidFill>
                <a:latin typeface="Arial"/>
                <a:ea typeface="Arial"/>
                <a:cs typeface="Arial"/>
              </a:defRPr>
            </a:pPr>
            <a:r>
              <a:rPr sz="3300" b="1">
                <a:solidFill>
                  <a:srgbClr val="15334F"/>
                </a:solidFill>
                <a:latin typeface="Arial"/>
                <a:ea typeface="Arial"/>
                <a:cs typeface="Arial"/>
              </a:rPr>
              <a:t>Arquitectura en capas</a:t>
            </a:r>
          </a:p>
        </p:txBody>
      </p:sp>
      <p:sp>
        <p:nvSpPr>
          <p:cNvPr id="2" name="08">
            <a:extLst xmlns:a="http://schemas.openxmlformats.org/drawingml/2006/main">
              <a:ext uri="{FF2B5EF4-FFF2-40B4-BE49-F238E27FC236}">
                <a16:creationId xmlns:a16="http://schemas.microsoft.com/office/drawing/2014/main" id="{D62BB5BB-1164-4374-82ED-047FAD9D0A9E}"/>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08</a:t>
            </a:r>
          </a:p>
        </p:txBody>
      </p:sp>
      <p:sp>
        <p:nvSpPr>
          <p:cNvPr id="3" name="Presentación&#10;Blazor Server">
            <a:extLst xmlns:a="http://schemas.openxmlformats.org/drawingml/2006/main">
              <a:ext uri="{FF2B5EF4-FFF2-40B4-BE49-F238E27FC236}">
                <a16:creationId xmlns:a16="http://schemas.microsoft.com/office/drawing/2014/main" id="{2BF2110F-6E0B-4142-9CE9-F913C7C0EB28}"/>
              </a:ext>
            </a:extLst>
          </p:cNvPr>
          <p:cNvSpPr>
            <a:spLocks xmlns:a="http://schemas.openxmlformats.org/drawingml/2006/main" noGrp="1"/>
          </p:cNvSpPr>
          <p:nvPr/>
        </p:nvSpPr>
        <p:spPr>
          <a:xfrm xmlns:a="http://schemas.openxmlformats.org/drawingml/2006/main">
            <a:off x="609600" y="1743075"/>
            <a:ext cx="3238500" cy="876300"/>
          </a:xfrm>
          <a:prstGeom xmlns:a="http://schemas.openxmlformats.org/drawingml/2006/main" prst="rect">
            <a:avLst/>
          </a:prstGeom>
          <a:solidFill xmlns:a="http://schemas.openxmlformats.org/drawingml/2006/main">
            <a:srgbClr val="EDF3FA"/>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Presentación</a:t>
            </a:r>
          </a:p>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Blazor Server</a:t>
            </a:r>
          </a:p>
        </p:txBody>
      </p:sp>
      <p:sp>
        <p:nvSpPr>
          <p:cNvPr id="4" name="Aplicación&#10;Fachada y servicios">
            <a:extLst xmlns:a="http://schemas.openxmlformats.org/drawingml/2006/main">
              <a:ext uri="{FF2B5EF4-FFF2-40B4-BE49-F238E27FC236}">
                <a16:creationId xmlns:a16="http://schemas.microsoft.com/office/drawing/2014/main" id="{C6DA323A-68C0-489F-A445-9143B781E2D9}"/>
              </a:ext>
            </a:extLst>
          </p:cNvPr>
          <p:cNvSpPr>
            <a:spLocks xmlns:a="http://schemas.openxmlformats.org/drawingml/2006/main" noGrp="1"/>
          </p:cNvSpPr>
          <p:nvPr/>
        </p:nvSpPr>
        <p:spPr>
          <a:xfrm xmlns:a="http://schemas.openxmlformats.org/drawingml/2006/main">
            <a:off x="609600" y="3057525"/>
            <a:ext cx="3238500" cy="876300"/>
          </a:xfrm>
          <a:prstGeom xmlns:a="http://schemas.openxmlformats.org/drawingml/2006/main" prst="rect">
            <a:avLst/>
          </a:prstGeom>
          <a:solidFill xmlns:a="http://schemas.openxmlformats.org/drawingml/2006/main">
            <a:srgbClr val="EAF4EE"/>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Aplicación</a:t>
            </a:r>
          </a:p>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Fachada y servicios</a:t>
            </a:r>
          </a:p>
        </p:txBody>
      </p:sp>
      <p:sp>
        <p:nvSpPr>
          <p:cNvPr id="5" name="Persistencia&#10;Repositorios y EF Core">
            <a:extLst xmlns:a="http://schemas.openxmlformats.org/drawingml/2006/main">
              <a:ext uri="{FF2B5EF4-FFF2-40B4-BE49-F238E27FC236}">
                <a16:creationId xmlns:a16="http://schemas.microsoft.com/office/drawing/2014/main" id="{CD4B0D14-837A-4C20-B229-A262D6A5B2C2}"/>
              </a:ext>
            </a:extLst>
          </p:cNvPr>
          <p:cNvSpPr>
            <a:spLocks xmlns:a="http://schemas.openxmlformats.org/drawingml/2006/main" noGrp="1"/>
          </p:cNvSpPr>
          <p:nvPr/>
        </p:nvSpPr>
        <p:spPr>
          <a:xfrm xmlns:a="http://schemas.openxmlformats.org/drawingml/2006/main">
            <a:off x="609600" y="4371975"/>
            <a:ext cx="3238500" cy="876300"/>
          </a:xfrm>
          <a:prstGeom xmlns:a="http://schemas.openxmlformats.org/drawingml/2006/main" prst="rect">
            <a:avLst/>
          </a:prstGeom>
          <a:solidFill xmlns:a="http://schemas.openxmlformats.org/drawingml/2006/main">
            <a:srgbClr val="FFF2E8"/>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Persistencia</a:t>
            </a:r>
          </a:p>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Repositorios y EF Core</a:t>
            </a:r>
          </a:p>
        </p:txBody>
      </p:sp>
      <p:sp>
        <p:nvSpPr>
          <p:cNvPr id="8" name="Dominio&#10;Entidades y contratos&#10;de repositorio">
            <a:extLst xmlns:a="http://schemas.openxmlformats.org/drawingml/2006/main">
              <a:ext uri="{FF2B5EF4-FFF2-40B4-BE49-F238E27FC236}">
                <a16:creationId xmlns:a16="http://schemas.microsoft.com/office/drawing/2014/main" id="{D4E30515-E641-4109-A3E8-F99BE95D34E6}"/>
              </a:ext>
            </a:extLst>
          </p:cNvPr>
          <p:cNvSpPr>
            <a:spLocks xmlns:a="http://schemas.openxmlformats.org/drawingml/2006/main" noGrp="1"/>
          </p:cNvSpPr>
          <p:nvPr/>
        </p:nvSpPr>
        <p:spPr>
          <a:xfrm xmlns:a="http://schemas.openxmlformats.org/drawingml/2006/main">
            <a:off x="4981575" y="3057525"/>
            <a:ext cx="3286125" cy="1447800"/>
          </a:xfrm>
          <a:prstGeom xmlns:a="http://schemas.openxmlformats.org/drawingml/2006/main" prst="rect">
            <a:avLst/>
          </a:prstGeom>
          <a:solidFill xmlns:a="http://schemas.openxmlformats.org/drawingml/2006/main">
            <a:srgbClr val="EDF3FA"/>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Dominio</a:t>
            </a:r>
          </a:p>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Entidades y contratos</a:t>
            </a:r>
          </a:p>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de repositorio</a:t>
            </a:r>
          </a:p>
        </p:txBody>
      </p:sp>
      <p:sp>
        <p:nvSpPr>
          <p:cNvPr id="11" name="Contratos compartidos">
            <a:extLst xmlns:a="http://schemas.openxmlformats.org/drawingml/2006/main">
              <a:ext uri="{FF2B5EF4-FFF2-40B4-BE49-F238E27FC236}">
                <a16:creationId xmlns:a16="http://schemas.microsoft.com/office/drawing/2014/main" id="{9B92B1A7-A3EC-4F11-9F6C-1C1C5CAE83F1}"/>
              </a:ext>
            </a:extLst>
          </p:cNvPr>
          <p:cNvSpPr>
            <a:spLocks xmlns:a="http://schemas.openxmlformats.org/drawingml/2006/main" noGrp="1"/>
          </p:cNvSpPr>
          <p:nvPr/>
        </p:nvSpPr>
        <p:spPr>
          <a:xfrm xmlns:a="http://schemas.openxmlformats.org/drawingml/2006/main">
            <a:off x="8896350" y="1876425"/>
            <a:ext cx="266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F4F8F"/>
                </a:solidFill>
                <a:latin typeface="Arial"/>
                <a:ea typeface="Arial"/>
                <a:cs typeface="Arial"/>
              </a:defRPr>
            </a:defPPr>
          </a:lstStyle>
          <a:p xmlns:a="http://schemas.openxmlformats.org/drawingml/2006/main">
            <a:pPr algn="l">
              <a:defRPr sz="2100" b="1">
                <a:solidFill>
                  <a:srgbClr val="1F4F8F"/>
                </a:solidFill>
                <a:latin typeface="Arial"/>
                <a:ea typeface="Arial"/>
                <a:cs typeface="Arial"/>
              </a:defRPr>
            </a:pPr>
            <a:r>
              <a:rPr sz="2100" b="1">
                <a:solidFill>
                  <a:srgbClr val="1F4F8F"/>
                </a:solidFill>
                <a:latin typeface="Arial"/>
                <a:ea typeface="Arial"/>
                <a:cs typeface="Arial"/>
              </a:rPr>
              <a:t>Contratos compartidos</a:t>
            </a:r>
          </a:p>
        </p:txBody>
      </p:sp>
      <p:sp>
        <p:nvSpPr>
          <p:cNvPr id="12" name="DTOs e interfaces&#10;de catálogo">
            <a:extLst xmlns:a="http://schemas.openxmlformats.org/drawingml/2006/main">
              <a:ext uri="{FF2B5EF4-FFF2-40B4-BE49-F238E27FC236}">
                <a16:creationId xmlns:a16="http://schemas.microsoft.com/office/drawing/2014/main" id="{EEC4CE9B-D6F0-4B4D-9AA2-5E002A6F5103}"/>
              </a:ext>
            </a:extLst>
          </p:cNvPr>
          <p:cNvSpPr>
            <a:spLocks xmlns:a="http://schemas.openxmlformats.org/drawingml/2006/main" noGrp="1"/>
          </p:cNvSpPr>
          <p:nvPr/>
        </p:nvSpPr>
        <p:spPr>
          <a:xfrm xmlns:a="http://schemas.openxmlformats.org/drawingml/2006/main">
            <a:off x="8896350" y="2771775"/>
            <a:ext cx="26193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15334F"/>
                </a:solidFill>
                <a:latin typeface="Arial"/>
                <a:ea typeface="Arial"/>
                <a:cs typeface="Arial"/>
              </a:defRPr>
            </a:defPPr>
          </a:lstStyle>
          <a:p xmlns:a="http://schemas.openxmlformats.org/drawingml/2006/main">
            <a:pPr algn="l">
              <a:defRPr sz="2025" b="0">
                <a:solidFill>
                  <a:srgbClr val="15334F"/>
                </a:solidFill>
                <a:latin typeface="Arial"/>
                <a:ea typeface="Arial"/>
                <a:cs typeface="Arial"/>
              </a:defRPr>
            </a:pPr>
            <a:r>
              <a:rPr sz="2025" b="0">
                <a:solidFill>
                  <a:srgbClr val="15334F"/>
                </a:solidFill>
                <a:latin typeface="Arial"/>
                <a:ea typeface="Arial"/>
                <a:cs typeface="Arial"/>
              </a:rPr>
              <a:t>DTOs e interfaces</a:t>
            </a:r>
          </a:p>
          <a:p xmlns:a="http://schemas.openxmlformats.org/drawingml/2006/main">
            <a:pPr algn="l">
              <a:defRPr sz="2025" b="0">
                <a:solidFill>
                  <a:srgbClr val="15334F"/>
                </a:solidFill>
                <a:latin typeface="Arial"/>
                <a:ea typeface="Arial"/>
                <a:cs typeface="Arial"/>
              </a:defRPr>
            </a:pPr>
            <a:r>
              <a:rPr sz="2025" b="0">
                <a:solidFill>
                  <a:srgbClr val="15334F"/>
                </a:solidFill>
                <a:latin typeface="Arial"/>
                <a:ea typeface="Arial"/>
                <a:cs typeface="Arial"/>
              </a:rPr>
              <a:t>de catálogo</a:t>
            </a:r>
          </a:p>
        </p:txBody>
      </p:sp>
      <p:sp>
        <p:nvSpPr>
          <p:cNvPr id="13" name="Common">
            <a:extLst xmlns:a="http://schemas.openxmlformats.org/drawingml/2006/main">
              <a:ext uri="{FF2B5EF4-FFF2-40B4-BE49-F238E27FC236}">
                <a16:creationId xmlns:a16="http://schemas.microsoft.com/office/drawing/2014/main" id="{63860CBF-AF15-4FAE-A879-5323C7944A48}"/>
              </a:ext>
            </a:extLst>
          </p:cNvPr>
          <p:cNvSpPr>
            <a:spLocks xmlns:a="http://schemas.openxmlformats.org/drawingml/2006/main" noGrp="1"/>
          </p:cNvSpPr>
          <p:nvPr/>
        </p:nvSpPr>
        <p:spPr>
          <a:xfrm xmlns:a="http://schemas.openxmlformats.org/drawingml/2006/main">
            <a:off x="8896350" y="437197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F4F8F"/>
                </a:solidFill>
                <a:latin typeface="Arial"/>
                <a:ea typeface="Arial"/>
                <a:cs typeface="Arial"/>
              </a:defRPr>
            </a:defPPr>
          </a:lstStyle>
          <a:p xmlns:a="http://schemas.openxmlformats.org/drawingml/2006/main">
            <a:pPr algn="l">
              <a:defRPr sz="2100" b="1">
                <a:solidFill>
                  <a:srgbClr val="1F4F8F"/>
                </a:solidFill>
                <a:latin typeface="Arial"/>
                <a:ea typeface="Arial"/>
                <a:cs typeface="Arial"/>
              </a:defRPr>
            </a:pPr>
            <a:r>
              <a:rPr sz="2100" b="1">
                <a:solidFill>
                  <a:srgbClr val="1F4F8F"/>
                </a:solidFill>
                <a:latin typeface="Arial"/>
                <a:ea typeface="Arial"/>
                <a:cs typeface="Arial"/>
              </a:rPr>
              <a:t>Common</a:t>
            </a:r>
          </a:p>
        </p:txBody>
      </p:sp>
      <p:sp>
        <p:nvSpPr>
          <p:cNvPr id="14" name="Validación, logging&#10;y configuración">
            <a:extLst xmlns:a="http://schemas.openxmlformats.org/drawingml/2006/main">
              <a:ext uri="{FF2B5EF4-FFF2-40B4-BE49-F238E27FC236}">
                <a16:creationId xmlns:a16="http://schemas.microsoft.com/office/drawing/2014/main" id="{B3C35299-4D2E-44B2-B81B-3074346F0403}"/>
              </a:ext>
            </a:extLst>
          </p:cNvPr>
          <p:cNvSpPr>
            <a:spLocks xmlns:a="http://schemas.openxmlformats.org/drawingml/2006/main" noGrp="1"/>
          </p:cNvSpPr>
          <p:nvPr/>
        </p:nvSpPr>
        <p:spPr>
          <a:xfrm xmlns:a="http://schemas.openxmlformats.org/drawingml/2006/main">
            <a:off x="8896350" y="4886325"/>
            <a:ext cx="266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5334F"/>
                </a:solidFill>
                <a:latin typeface="Arial"/>
                <a:ea typeface="Arial"/>
                <a:cs typeface="Arial"/>
              </a:defRPr>
            </a:defPPr>
          </a:lstStyle>
          <a:p xmlns:a="http://schemas.openxmlformats.org/drawingml/2006/main">
            <a:pPr algn="l">
              <a:defRPr sz="1950" b="0">
                <a:solidFill>
                  <a:srgbClr val="15334F"/>
                </a:solidFill>
                <a:latin typeface="Arial"/>
                <a:ea typeface="Arial"/>
                <a:cs typeface="Arial"/>
              </a:defRPr>
            </a:pPr>
            <a:r>
              <a:rPr sz="1950" b="0">
                <a:solidFill>
                  <a:srgbClr val="15334F"/>
                </a:solidFill>
                <a:latin typeface="Arial"/>
                <a:ea typeface="Arial"/>
                <a:cs typeface="Arial"/>
              </a:rPr>
              <a:t>Validación, logging</a:t>
            </a:r>
          </a:p>
          <a:p xmlns:a="http://schemas.openxmlformats.org/drawingml/2006/main">
            <a:pPr algn="l">
              <a:defRPr sz="1950" b="0">
                <a:solidFill>
                  <a:srgbClr val="15334F"/>
                </a:solidFill>
                <a:latin typeface="Arial"/>
                <a:ea typeface="Arial"/>
                <a:cs typeface="Arial"/>
              </a:defRPr>
            </a:pPr>
            <a:r>
              <a:rPr sz="1950" b="0">
                <a:solidFill>
                  <a:srgbClr val="15334F"/>
                </a:solidFill>
                <a:latin typeface="Arial"/>
                <a:ea typeface="Arial"/>
                <a:cs typeface="Arial"/>
              </a:rPr>
              <a:t>y configuración</a:t>
            </a:r>
          </a:p>
        </p:txBody>
      </p:sp>
      <p:sp>
        <p:nvSpPr>
          <p:cNvPr id="15" name="El dominio no depende de otros proyectos">
            <a:extLst xmlns:a="http://schemas.openxmlformats.org/drawingml/2006/main">
              <a:ext uri="{FF2B5EF4-FFF2-40B4-BE49-F238E27FC236}">
                <a16:creationId xmlns:a16="http://schemas.microsoft.com/office/drawing/2014/main" id="{DA3CC5F7-43E9-41E2-B466-B34394A1A9A5}"/>
              </a:ext>
            </a:extLst>
          </p:cNvPr>
          <p:cNvSpPr>
            <a:spLocks xmlns:a="http://schemas.openxmlformats.org/drawingml/2006/main" noGrp="1"/>
          </p:cNvSpPr>
          <p:nvPr/>
        </p:nvSpPr>
        <p:spPr>
          <a:xfrm xmlns:a="http://schemas.openxmlformats.org/drawingml/2006/main">
            <a:off x="609600" y="574357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53697A"/>
                </a:solidFill>
                <a:latin typeface="Arial"/>
                <a:ea typeface="Arial"/>
                <a:cs typeface="Arial"/>
              </a:defRPr>
            </a:defPPr>
          </a:lstStyle>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El dominio no depende de otros proyectos de la solución.</a:t>
            </a:r>
          </a:p>
        </p:txBody>
      </p:sp>
    </p:spTree>
    <p:extLst>
      <p:ext uri="{BB962C8B-B14F-4D97-AF65-F5344CB8AC3E}">
        <p14:creationId xmlns:p14="http://schemas.microsoft.com/office/powerpoint/2010/main" val="21365725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A36BD348-6D8B-4DAD-B72C-F2CCAA7C17F3}"/>
              </a:ext>
            </a:extLst>
          </p:cNvPr>
          <p:cNvCxnSpPr>
            <a:stCxn xmlns:a="http://schemas.openxmlformats.org/drawingml/2006/main" id="12" idx="3"/>
            <a:endCxn xmlns:a="http://schemas.openxmlformats.org/drawingml/2006/main" id="13" idx="1"/>
          </p:cNvCxnSpPr>
          <p:nvPr/>
        </p:nvCxnSpPr>
        <p:spPr>
          <a:xfrm xmlns:a="http://schemas.openxmlformats.org/drawingml/2006/main">
            <a:off x="7191375" y="5019675"/>
            <a:ext cx="447675" cy="0"/>
          </a:xfrm>
          <a:prstGeom xmlns:a="http://schemas.openxmlformats.org/drawingml/2006/main" prst="straightConnector1">
            <a:avLst/>
          </a:prstGeom>
          <a:ln xmlns:a="http://schemas.openxmlformats.org/drawingml/2006/main" w="20955">
            <a:solidFill>
              <a:srgbClr val="1F4F8F"/>
            </a:solidFill>
            <a:tailEnd type="triangle" w="med" len="med"/>
          </a:ln>
        </p:spPr>
      </p:cxnSp>
      <p:cxnSp>
        <p:nvCxnSpPr>
          <p:cNvPr id="14" name="">
            <a:extLst xmlns:a="http://schemas.openxmlformats.org/drawingml/2006/main">
              <a:ext uri="{FF2B5EF4-FFF2-40B4-BE49-F238E27FC236}">
                <a16:creationId xmlns:a16="http://schemas.microsoft.com/office/drawing/2014/main" id="{471BCBA2-5CE8-448A-8EF8-3137E8192384}"/>
              </a:ext>
            </a:extLst>
          </p:cNvPr>
          <p:cNvCxnSpPr>
            <a:stCxn xmlns:a="http://schemas.openxmlformats.org/drawingml/2006/main" id="11" idx="3"/>
            <a:endCxn xmlns:a="http://schemas.openxmlformats.org/drawingml/2006/main" id="12" idx="1"/>
          </p:cNvCxnSpPr>
          <p:nvPr/>
        </p:nvCxnSpPr>
        <p:spPr>
          <a:xfrm xmlns:a="http://schemas.openxmlformats.org/drawingml/2006/main">
            <a:off x="3676650" y="5019675"/>
            <a:ext cx="466725" cy="0"/>
          </a:xfrm>
          <a:prstGeom xmlns:a="http://schemas.openxmlformats.org/drawingml/2006/main" prst="straightConnector1">
            <a:avLst/>
          </a:prstGeom>
          <a:ln xmlns:a="http://schemas.openxmlformats.org/drawingml/2006/main" w="20955">
            <a:solidFill>
              <a:srgbClr val="1F4F8F"/>
            </a:solidFill>
            <a:tailEnd type="triangle" w="med" len="med"/>
          </a:ln>
        </p:spPr>
      </p:cxnSp>
      <p:cxnSp>
        <p:nvCxnSpPr>
          <p:cNvPr id="8" name="">
            <a:extLst xmlns:a="http://schemas.openxmlformats.org/drawingml/2006/main">
              <a:ext uri="{FF2B5EF4-FFF2-40B4-BE49-F238E27FC236}">
                <a16:creationId xmlns:a16="http://schemas.microsoft.com/office/drawing/2014/main" id="{7CE62F84-AD41-4E4C-8F7D-C72DAA4CA6D0}"/>
              </a:ext>
            </a:extLst>
          </p:cNvPr>
          <p:cNvCxnSpPr>
            <a:stCxn xmlns:a="http://schemas.openxmlformats.org/drawingml/2006/main" id="5" idx="3"/>
            <a:endCxn xmlns:a="http://schemas.openxmlformats.org/drawingml/2006/main" id="6" idx="1"/>
          </p:cNvCxnSpPr>
          <p:nvPr/>
        </p:nvCxnSpPr>
        <p:spPr>
          <a:xfrm xmlns:a="http://schemas.openxmlformats.org/drawingml/2006/main">
            <a:off x="7191375" y="2590800"/>
            <a:ext cx="447675" cy="0"/>
          </a:xfrm>
          <a:prstGeom xmlns:a="http://schemas.openxmlformats.org/drawingml/2006/main" prst="straightConnector1">
            <a:avLst/>
          </a:prstGeom>
          <a:ln xmlns:a="http://schemas.openxmlformats.org/drawingml/2006/main" w="20955">
            <a:solidFill>
              <a:srgbClr val="1F4F8F"/>
            </a:solidFill>
            <a:tailEnd type="triangle" w="med" len="med"/>
          </a:ln>
        </p:spPr>
      </p:cxnSp>
      <p:cxnSp>
        <p:nvCxnSpPr>
          <p:cNvPr id="7" name="">
            <a:extLst xmlns:a="http://schemas.openxmlformats.org/drawingml/2006/main">
              <a:ext uri="{FF2B5EF4-FFF2-40B4-BE49-F238E27FC236}">
                <a16:creationId xmlns:a16="http://schemas.microsoft.com/office/drawing/2014/main" id="{F9F883D0-0D63-4484-BD8C-85BB3095E207}"/>
              </a:ext>
            </a:extLst>
          </p:cNvPr>
          <p:cNvCxnSpPr>
            <a:stCxn xmlns:a="http://schemas.openxmlformats.org/drawingml/2006/main" id="4" idx="3"/>
            <a:endCxn xmlns:a="http://schemas.openxmlformats.org/drawingml/2006/main" id="5" idx="1"/>
          </p:cNvCxnSpPr>
          <p:nvPr/>
        </p:nvCxnSpPr>
        <p:spPr>
          <a:xfrm xmlns:a="http://schemas.openxmlformats.org/drawingml/2006/main">
            <a:off x="3676650" y="2590800"/>
            <a:ext cx="466725" cy="0"/>
          </a:xfrm>
          <a:prstGeom xmlns:a="http://schemas.openxmlformats.org/drawingml/2006/main" prst="straightConnector1">
            <a:avLst/>
          </a:prstGeom>
          <a:ln xmlns:a="http://schemas.openxmlformats.org/drawingml/2006/main" w="20955">
            <a:solidFill>
              <a:srgbClr val="1F4F8F"/>
            </a:solidFill>
            <a:tailEnd type="triangle" w="med" len="med"/>
          </a:ln>
        </p:spPr>
      </p:cxnSp>
      <p:sp>
        <p:nvSpPr>
          <p:cNvPr id="17" name="Un contrato, dos modos de acceso">
            <a:extLst xmlns:a="http://schemas.openxmlformats.org/drawingml/2006/main">
              <a:ext uri="{FF2B5EF4-FFF2-40B4-BE49-F238E27FC236}">
                <a16:creationId xmlns:a16="http://schemas.microsoft.com/office/drawing/2014/main" id="{BC3BD730-4BCB-4DB2-A0F9-9D8FA7B23944}"/>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5334F"/>
                </a:solidFill>
                <a:latin typeface="Arial"/>
                <a:ea typeface="Arial"/>
                <a:cs typeface="Arial"/>
              </a:defRPr>
            </a:defPPr>
          </a:lstStyle>
          <a:p xmlns:a="http://schemas.openxmlformats.org/drawingml/2006/main">
            <a:pPr algn="l">
              <a:defRPr sz="3300" b="1">
                <a:solidFill>
                  <a:srgbClr val="15334F"/>
                </a:solidFill>
                <a:latin typeface="Arial"/>
                <a:ea typeface="Arial"/>
                <a:cs typeface="Arial"/>
              </a:defRPr>
            </a:pPr>
            <a:r>
              <a:rPr sz="3300" b="1">
                <a:solidFill>
                  <a:srgbClr val="15334F"/>
                </a:solidFill>
                <a:latin typeface="Arial"/>
                <a:ea typeface="Arial"/>
                <a:cs typeface="Arial"/>
              </a:rPr>
              <a:t>Un contrato, dos modos de acceso</a:t>
            </a:r>
          </a:p>
        </p:txBody>
      </p:sp>
      <p:sp>
        <p:nvSpPr>
          <p:cNvPr id="2" name="09">
            <a:extLst xmlns:a="http://schemas.openxmlformats.org/drawingml/2006/main">
              <a:ext uri="{FF2B5EF4-FFF2-40B4-BE49-F238E27FC236}">
                <a16:creationId xmlns:a16="http://schemas.microsoft.com/office/drawing/2014/main" id="{C41CCA0E-2CC4-44E3-B00E-C19DBE7EE293}"/>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09</a:t>
            </a:r>
          </a:p>
        </p:txBody>
      </p:sp>
      <p:sp>
        <p:nvSpPr>
          <p:cNvPr id="3" name="Local">
            <a:extLst xmlns:a="http://schemas.openxmlformats.org/drawingml/2006/main">
              <a:ext uri="{FF2B5EF4-FFF2-40B4-BE49-F238E27FC236}">
                <a16:creationId xmlns:a16="http://schemas.microsoft.com/office/drawing/2014/main" id="{30E952A9-74FE-4A67-ADD5-114A61A4C98E}"/>
              </a:ext>
            </a:extLst>
          </p:cNvPr>
          <p:cNvSpPr>
            <a:spLocks xmlns:a="http://schemas.openxmlformats.org/drawingml/2006/main" noGrp="1"/>
          </p:cNvSpPr>
          <p:nvPr/>
        </p:nvSpPr>
        <p:spPr>
          <a:xfrm xmlns:a="http://schemas.openxmlformats.org/drawingml/2006/main">
            <a:off x="609600" y="15811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25" b="1">
                <a:solidFill>
                  <a:srgbClr val="1F4F8F"/>
                </a:solidFill>
                <a:latin typeface="Arial"/>
                <a:ea typeface="Arial"/>
                <a:cs typeface="Arial"/>
              </a:defRPr>
            </a:defPPr>
          </a:lstStyle>
          <a:p xmlns:a="http://schemas.openxmlformats.org/drawingml/2006/main">
            <a:pPr algn="l">
              <a:defRPr sz="2325" b="1">
                <a:solidFill>
                  <a:srgbClr val="1F4F8F"/>
                </a:solidFill>
                <a:latin typeface="Arial"/>
                <a:ea typeface="Arial"/>
                <a:cs typeface="Arial"/>
              </a:defRPr>
            </a:pPr>
            <a:r>
              <a:rPr sz="2325" b="1">
                <a:solidFill>
                  <a:srgbClr val="1F4F8F"/>
                </a:solidFill>
                <a:latin typeface="Arial"/>
                <a:ea typeface="Arial"/>
                <a:cs typeface="Arial"/>
              </a:rPr>
              <a:t>Local</a:t>
            </a:r>
          </a:p>
        </p:txBody>
      </p:sp>
      <p:sp>
        <p:nvSpPr>
          <p:cNvPr id="4" name="ICatalogoRepuestos">
            <a:extLst xmlns:a="http://schemas.openxmlformats.org/drawingml/2006/main">
              <a:ext uri="{FF2B5EF4-FFF2-40B4-BE49-F238E27FC236}">
                <a16:creationId xmlns:a16="http://schemas.microsoft.com/office/drawing/2014/main" id="{3421E2FC-2D65-481C-BBAF-AC69C4F1FA14}"/>
              </a:ext>
            </a:extLst>
          </p:cNvPr>
          <p:cNvSpPr>
            <a:spLocks xmlns:a="http://schemas.openxmlformats.org/drawingml/2006/main" noGrp="1"/>
          </p:cNvSpPr>
          <p:nvPr/>
        </p:nvSpPr>
        <p:spPr>
          <a:xfrm xmlns:a="http://schemas.openxmlformats.org/drawingml/2006/main">
            <a:off x="609600" y="2181225"/>
            <a:ext cx="3067050" cy="819150"/>
          </a:xfrm>
          <a:prstGeom xmlns:a="http://schemas.openxmlformats.org/drawingml/2006/main" prst="rect">
            <a:avLst/>
          </a:prstGeom>
          <a:solidFill xmlns:a="http://schemas.openxmlformats.org/drawingml/2006/main">
            <a:srgbClr val="EDF3FA"/>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ICatalogoRepuestos</a:t>
            </a:r>
          </a:p>
        </p:txBody>
      </p:sp>
      <p:sp>
        <p:nvSpPr>
          <p:cNvPr id="5" name="CatalogoLocal">
            <a:extLst xmlns:a="http://schemas.openxmlformats.org/drawingml/2006/main">
              <a:ext uri="{FF2B5EF4-FFF2-40B4-BE49-F238E27FC236}">
                <a16:creationId xmlns:a16="http://schemas.microsoft.com/office/drawing/2014/main" id="{F93AEC2E-544A-4AE0-B2CE-F80787F3D521}"/>
              </a:ext>
            </a:extLst>
          </p:cNvPr>
          <p:cNvSpPr>
            <a:spLocks xmlns:a="http://schemas.openxmlformats.org/drawingml/2006/main" noGrp="1"/>
          </p:cNvSpPr>
          <p:nvPr/>
        </p:nvSpPr>
        <p:spPr>
          <a:xfrm xmlns:a="http://schemas.openxmlformats.org/drawingml/2006/main">
            <a:off x="4143375" y="2181225"/>
            <a:ext cx="3048000" cy="819150"/>
          </a:xfrm>
          <a:prstGeom xmlns:a="http://schemas.openxmlformats.org/drawingml/2006/main" prst="rect">
            <a:avLst/>
          </a:prstGeom>
          <a:solidFill xmlns:a="http://schemas.openxmlformats.org/drawingml/2006/main">
            <a:srgbClr val="EAF4EE"/>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CatalogoLocal</a:t>
            </a:r>
          </a:p>
        </p:txBody>
      </p:sp>
      <p:sp>
        <p:nvSpPr>
          <p:cNvPr id="6" name="Repositorio">
            <a:extLst xmlns:a="http://schemas.openxmlformats.org/drawingml/2006/main">
              <a:ext uri="{FF2B5EF4-FFF2-40B4-BE49-F238E27FC236}">
                <a16:creationId xmlns:a16="http://schemas.microsoft.com/office/drawing/2014/main" id="{28FCBC23-12F3-4337-A544-6B8BF3B71E6B}"/>
              </a:ext>
            </a:extLst>
          </p:cNvPr>
          <p:cNvSpPr>
            <a:spLocks xmlns:a="http://schemas.openxmlformats.org/drawingml/2006/main" noGrp="1"/>
          </p:cNvSpPr>
          <p:nvPr/>
        </p:nvSpPr>
        <p:spPr>
          <a:xfrm xmlns:a="http://schemas.openxmlformats.org/drawingml/2006/main">
            <a:off x="7639050" y="2181225"/>
            <a:ext cx="3333750" cy="819150"/>
          </a:xfrm>
          <a:prstGeom xmlns:a="http://schemas.openxmlformats.org/drawingml/2006/main" prst="rect">
            <a:avLst/>
          </a:prstGeom>
          <a:solidFill xmlns:a="http://schemas.openxmlformats.org/drawingml/2006/main">
            <a:srgbClr val="EAF4EE"/>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Repositorio</a:t>
            </a:r>
          </a:p>
        </p:txBody>
      </p:sp>
      <p:sp>
        <p:nvSpPr>
          <p:cNvPr id="9" name="Invocación directa dentro del proceso">
            <a:extLst xmlns:a="http://schemas.openxmlformats.org/drawingml/2006/main">
              <a:ext uri="{FF2B5EF4-FFF2-40B4-BE49-F238E27FC236}">
                <a16:creationId xmlns:a16="http://schemas.microsoft.com/office/drawing/2014/main" id="{9A2394F0-B250-4ECD-8281-9D78A071254A}"/>
              </a:ext>
            </a:extLst>
          </p:cNvPr>
          <p:cNvSpPr>
            <a:spLocks xmlns:a="http://schemas.openxmlformats.org/drawingml/2006/main" noGrp="1"/>
          </p:cNvSpPr>
          <p:nvPr/>
        </p:nvSpPr>
        <p:spPr>
          <a:xfrm xmlns:a="http://schemas.openxmlformats.org/drawingml/2006/main">
            <a:off x="609600" y="3248025"/>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53697A"/>
                </a:solidFill>
                <a:latin typeface="Arial"/>
                <a:ea typeface="Arial"/>
                <a:cs typeface="Arial"/>
              </a:defRPr>
            </a:defPPr>
          </a:lstStyle>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Invocación directa dentro del proceso</a:t>
            </a:r>
          </a:p>
        </p:txBody>
      </p:sp>
      <p:sp>
        <p:nvSpPr>
          <p:cNvPr id="10" name="Remoto">
            <a:extLst xmlns:a="http://schemas.openxmlformats.org/drawingml/2006/main">
              <a:ext uri="{FF2B5EF4-FFF2-40B4-BE49-F238E27FC236}">
                <a16:creationId xmlns:a16="http://schemas.microsoft.com/office/drawing/2014/main" id="{1B928C4E-3C0F-46C8-82B8-A85689B4F78D}"/>
              </a:ext>
            </a:extLst>
          </p:cNvPr>
          <p:cNvSpPr>
            <a:spLocks xmlns:a="http://schemas.openxmlformats.org/drawingml/2006/main" noGrp="1"/>
          </p:cNvSpPr>
          <p:nvPr/>
        </p:nvSpPr>
        <p:spPr>
          <a:xfrm xmlns:a="http://schemas.openxmlformats.org/drawingml/2006/main">
            <a:off x="609600" y="39624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25" b="1">
                <a:solidFill>
                  <a:srgbClr val="EA580C"/>
                </a:solidFill>
                <a:latin typeface="Arial"/>
                <a:ea typeface="Arial"/>
                <a:cs typeface="Arial"/>
              </a:defRPr>
            </a:defPPr>
          </a:lstStyle>
          <a:p xmlns:a="http://schemas.openxmlformats.org/drawingml/2006/main">
            <a:pPr algn="l">
              <a:defRPr sz="2325" b="1">
                <a:solidFill>
                  <a:srgbClr val="EA580C"/>
                </a:solidFill>
                <a:latin typeface="Arial"/>
                <a:ea typeface="Arial"/>
                <a:cs typeface="Arial"/>
              </a:defRPr>
            </a:pPr>
            <a:r>
              <a:rPr sz="2325" b="1">
                <a:solidFill>
                  <a:srgbClr val="EA580C"/>
                </a:solidFill>
                <a:latin typeface="Arial"/>
                <a:ea typeface="Arial"/>
                <a:cs typeface="Arial"/>
              </a:rPr>
              <a:t>Remoto</a:t>
            </a:r>
          </a:p>
        </p:txBody>
      </p:sp>
      <p:sp>
        <p:nvSpPr>
          <p:cNvPr id="11" name="ICatalogoRepuestos">
            <a:extLst xmlns:a="http://schemas.openxmlformats.org/drawingml/2006/main">
              <a:ext uri="{FF2B5EF4-FFF2-40B4-BE49-F238E27FC236}">
                <a16:creationId xmlns:a16="http://schemas.microsoft.com/office/drawing/2014/main" id="{98110616-C637-46AF-9C09-AAFECFDFED11}"/>
              </a:ext>
            </a:extLst>
          </p:cNvPr>
          <p:cNvSpPr>
            <a:spLocks xmlns:a="http://schemas.openxmlformats.org/drawingml/2006/main" noGrp="1"/>
          </p:cNvSpPr>
          <p:nvPr/>
        </p:nvSpPr>
        <p:spPr>
          <a:xfrm xmlns:a="http://schemas.openxmlformats.org/drawingml/2006/main">
            <a:off x="609600" y="4610100"/>
            <a:ext cx="3067050" cy="819150"/>
          </a:xfrm>
          <a:prstGeom xmlns:a="http://schemas.openxmlformats.org/drawingml/2006/main" prst="rect">
            <a:avLst/>
          </a:prstGeom>
          <a:solidFill xmlns:a="http://schemas.openxmlformats.org/drawingml/2006/main">
            <a:srgbClr val="EDF3FA"/>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ICatalogoRepuestos</a:t>
            </a:r>
          </a:p>
        </p:txBody>
      </p:sp>
      <p:sp>
        <p:nvSpPr>
          <p:cNvPr id="12" name="CatalogoRemoto">
            <a:extLst xmlns:a="http://schemas.openxmlformats.org/drawingml/2006/main">
              <a:ext uri="{FF2B5EF4-FFF2-40B4-BE49-F238E27FC236}">
                <a16:creationId xmlns:a16="http://schemas.microsoft.com/office/drawing/2014/main" id="{C78B7E80-8B28-4095-8EB4-4DEEB809893F}"/>
              </a:ext>
            </a:extLst>
          </p:cNvPr>
          <p:cNvSpPr>
            <a:spLocks xmlns:a="http://schemas.openxmlformats.org/drawingml/2006/main" noGrp="1"/>
          </p:cNvSpPr>
          <p:nvPr/>
        </p:nvSpPr>
        <p:spPr>
          <a:xfrm xmlns:a="http://schemas.openxmlformats.org/drawingml/2006/main">
            <a:off x="4143375" y="4610100"/>
            <a:ext cx="3048000" cy="819150"/>
          </a:xfrm>
          <a:prstGeom xmlns:a="http://schemas.openxmlformats.org/drawingml/2006/main" prst="rect">
            <a:avLst/>
          </a:prstGeom>
          <a:solidFill xmlns:a="http://schemas.openxmlformats.org/drawingml/2006/main">
            <a:srgbClr val="FFF2E8"/>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CatalogoRemoto</a:t>
            </a:r>
          </a:p>
        </p:txBody>
      </p:sp>
      <p:sp>
        <p:nvSpPr>
          <p:cNvPr id="13" name="Catalogo.Api&#10;CatalogoLocal">
            <a:extLst xmlns:a="http://schemas.openxmlformats.org/drawingml/2006/main">
              <a:ext uri="{FF2B5EF4-FFF2-40B4-BE49-F238E27FC236}">
                <a16:creationId xmlns:a16="http://schemas.microsoft.com/office/drawing/2014/main" id="{DE928970-A162-4A72-B20E-B8F367BBDADD}"/>
              </a:ext>
            </a:extLst>
          </p:cNvPr>
          <p:cNvSpPr>
            <a:spLocks xmlns:a="http://schemas.openxmlformats.org/drawingml/2006/main" noGrp="1"/>
          </p:cNvSpPr>
          <p:nvPr/>
        </p:nvSpPr>
        <p:spPr>
          <a:xfrm xmlns:a="http://schemas.openxmlformats.org/drawingml/2006/main">
            <a:off x="7639050" y="4610100"/>
            <a:ext cx="3333750" cy="819150"/>
          </a:xfrm>
          <a:prstGeom xmlns:a="http://schemas.openxmlformats.org/drawingml/2006/main" prst="rect">
            <a:avLst/>
          </a:prstGeom>
          <a:solidFill xmlns:a="http://schemas.openxmlformats.org/drawingml/2006/main">
            <a:srgbClr val="FFF2E8"/>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875" b="1">
                <a:solidFill>
                  <a:srgbClr val="15334F"/>
                </a:solidFill>
                <a:latin typeface="Arial"/>
                <a:ea typeface="Arial"/>
                <a:cs typeface="Arial"/>
              </a:defRPr>
            </a:defPPr>
          </a:lstStyle>
          <a:p xmlns:a="http://schemas.openxmlformats.org/drawingml/2006/main">
            <a:pPr algn="ctr">
              <a:defRPr sz="1875" b="1">
                <a:solidFill>
                  <a:srgbClr val="15334F"/>
                </a:solidFill>
                <a:latin typeface="Arial"/>
                <a:ea typeface="Arial"/>
                <a:cs typeface="Arial"/>
              </a:defRPr>
            </a:pPr>
            <a:r>
              <a:rPr sz="1875" b="1">
                <a:solidFill>
                  <a:srgbClr val="15334F"/>
                </a:solidFill>
                <a:latin typeface="Arial"/>
                <a:ea typeface="Arial"/>
                <a:cs typeface="Arial"/>
              </a:rPr>
              <a:t>Catalogo.Api</a:t>
            </a:r>
          </a:p>
          <a:p xmlns:a="http://schemas.openxmlformats.org/drawingml/2006/main">
            <a:pPr algn="ctr">
              <a:defRPr sz="1875" b="1">
                <a:solidFill>
                  <a:srgbClr val="15334F"/>
                </a:solidFill>
                <a:latin typeface="Arial"/>
                <a:ea typeface="Arial"/>
                <a:cs typeface="Arial"/>
              </a:defRPr>
            </a:pPr>
            <a:r>
              <a:rPr sz="1875" b="1">
                <a:solidFill>
                  <a:srgbClr val="15334F"/>
                </a:solidFill>
                <a:latin typeface="Arial"/>
                <a:ea typeface="Arial"/>
                <a:cs typeface="Arial"/>
              </a:rPr>
              <a:t>CatalogoLocal</a:t>
            </a:r>
          </a:p>
        </p:txBody>
      </p:sp>
      <p:sp>
        <p:nvSpPr>
          <p:cNvPr id="16" name="HTTP + JSON. La fábrica selecciona el mo">
            <a:extLst xmlns:a="http://schemas.openxmlformats.org/drawingml/2006/main">
              <a:ext uri="{FF2B5EF4-FFF2-40B4-BE49-F238E27FC236}">
                <a16:creationId xmlns:a16="http://schemas.microsoft.com/office/drawing/2014/main" id="{882CB4B4-6FEC-4E61-93B7-7F28CC74686B}"/>
              </a:ext>
            </a:extLst>
          </p:cNvPr>
          <p:cNvSpPr>
            <a:spLocks xmlns:a="http://schemas.openxmlformats.org/drawingml/2006/main" noGrp="1"/>
          </p:cNvSpPr>
          <p:nvPr/>
        </p:nvSpPr>
        <p:spPr>
          <a:xfrm xmlns:a="http://schemas.openxmlformats.org/drawingml/2006/main">
            <a:off x="609600" y="57340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53697A"/>
                </a:solidFill>
                <a:latin typeface="Arial"/>
                <a:ea typeface="Arial"/>
                <a:cs typeface="Arial"/>
              </a:defRPr>
            </a:defPPr>
          </a:lstStyle>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HTTP + JSON. La fábrica selecciona el modo al iniciar.</a:t>
            </a:r>
          </a:p>
        </p:txBody>
      </p:sp>
    </p:spTree>
    <p:extLst>
      <p:ext uri="{BB962C8B-B14F-4D97-AF65-F5344CB8AC3E}">
        <p14:creationId xmlns:p14="http://schemas.microsoft.com/office/powerpoint/2010/main" val="11495850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DD7D48DC-5D88-4640-877C-446684E8CBDC}"/>
              </a:ext>
            </a:extLst>
          </p:cNvPr>
          <p:cNvCxnSpPr>
            <a:stCxn xmlns:a="http://schemas.openxmlformats.org/drawingml/2006/main" id="9" idx="1"/>
            <a:endCxn xmlns:a="http://schemas.openxmlformats.org/drawingml/2006/main" id="10" idx="3"/>
          </p:cNvCxnSpPr>
          <p:nvPr/>
        </p:nvCxnSpPr>
        <p:spPr>
          <a:xfrm xmlns:a="http://schemas.openxmlformats.org/drawingml/2006/main" flipH="1">
            <a:off x="3705225" y="4095750"/>
            <a:ext cx="838200" cy="0"/>
          </a:xfrm>
          <a:prstGeom xmlns:a="http://schemas.openxmlformats.org/drawingml/2006/main" prst="straightConnector1">
            <a:avLst/>
          </a:prstGeom>
          <a:ln xmlns:a="http://schemas.openxmlformats.org/drawingml/2006/main" w="20955">
            <a:solidFill>
              <a:srgbClr val="1F4F8F"/>
            </a:solidFill>
            <a:tailEnd type="triangle" w="med" len="med"/>
          </a:ln>
        </p:spPr>
      </p:cxnSp>
      <p:cxnSp>
        <p:nvCxnSpPr>
          <p:cNvPr id="12" name="">
            <a:extLst xmlns:a="http://schemas.openxmlformats.org/drawingml/2006/main">
              <a:ext uri="{FF2B5EF4-FFF2-40B4-BE49-F238E27FC236}">
                <a16:creationId xmlns:a16="http://schemas.microsoft.com/office/drawing/2014/main" id="{18AFF1DD-23F9-4E78-81DE-498C491D0154}"/>
              </a:ext>
            </a:extLst>
          </p:cNvPr>
          <p:cNvCxnSpPr>
            <a:stCxn xmlns:a="http://schemas.openxmlformats.org/drawingml/2006/main" id="8" idx="1"/>
            <a:endCxn xmlns:a="http://schemas.openxmlformats.org/drawingml/2006/main" id="9" idx="3"/>
          </p:cNvCxnSpPr>
          <p:nvPr/>
        </p:nvCxnSpPr>
        <p:spPr>
          <a:xfrm xmlns:a="http://schemas.openxmlformats.org/drawingml/2006/main" flipH="1">
            <a:off x="7639050" y="4095750"/>
            <a:ext cx="838200" cy="0"/>
          </a:xfrm>
          <a:prstGeom xmlns:a="http://schemas.openxmlformats.org/drawingml/2006/main" prst="straightConnector1">
            <a:avLst/>
          </a:prstGeom>
          <a:ln xmlns:a="http://schemas.openxmlformats.org/drawingml/2006/main" w="20955">
            <a:solidFill>
              <a:srgbClr val="1F4F8F"/>
            </a:solidFill>
            <a:tailEnd type="triangle" w="med" len="med"/>
          </a:ln>
        </p:spPr>
      </p:cxnSp>
      <p:cxnSp>
        <p:nvCxnSpPr>
          <p:cNvPr id="11" name="">
            <a:extLst xmlns:a="http://schemas.openxmlformats.org/drawingml/2006/main">
              <a:ext uri="{FF2B5EF4-FFF2-40B4-BE49-F238E27FC236}">
                <a16:creationId xmlns:a16="http://schemas.microsoft.com/office/drawing/2014/main" id="{48E80E4D-0154-4B15-AE5A-0135D2B98EE2}"/>
              </a:ext>
            </a:extLst>
          </p:cNvPr>
          <p:cNvCxnSpPr>
            <a:stCxn xmlns:a="http://schemas.openxmlformats.org/drawingml/2006/main" id="5" idx="2"/>
            <a:endCxn xmlns:a="http://schemas.openxmlformats.org/drawingml/2006/main" id="8" idx="0"/>
          </p:cNvCxnSpPr>
          <p:nvPr/>
        </p:nvCxnSpPr>
        <p:spPr>
          <a:xfrm xmlns:a="http://schemas.openxmlformats.org/drawingml/2006/main">
            <a:off x="10025063" y="2581275"/>
            <a:ext cx="0" cy="1038225"/>
          </a:xfrm>
          <a:prstGeom xmlns:a="http://schemas.openxmlformats.org/drawingml/2006/main" prst="straightConnector1">
            <a:avLst/>
          </a:prstGeom>
          <a:ln xmlns:a="http://schemas.openxmlformats.org/drawingml/2006/main" w="20955">
            <a:solidFill>
              <a:srgbClr val="1F4F8F"/>
            </a:solidFill>
            <a:tailEnd type="triangle" w="med" len="med"/>
          </a:ln>
        </p:spPr>
      </p:cxnSp>
      <p:cxnSp>
        <p:nvCxnSpPr>
          <p:cNvPr id="7" name="">
            <a:extLst xmlns:a="http://schemas.openxmlformats.org/drawingml/2006/main">
              <a:ext uri="{FF2B5EF4-FFF2-40B4-BE49-F238E27FC236}">
                <a16:creationId xmlns:a16="http://schemas.microsoft.com/office/drawing/2014/main" id="{0649CB62-DDE5-4B8F-95CC-5085FFEB5BD3}"/>
              </a:ext>
            </a:extLst>
          </p:cNvPr>
          <p:cNvCxnSpPr>
            <a:stCxn xmlns:a="http://schemas.openxmlformats.org/drawingml/2006/main" id="4" idx="3"/>
            <a:endCxn xmlns:a="http://schemas.openxmlformats.org/drawingml/2006/main" id="5" idx="1"/>
          </p:cNvCxnSpPr>
          <p:nvPr/>
        </p:nvCxnSpPr>
        <p:spPr>
          <a:xfrm xmlns:a="http://schemas.openxmlformats.org/drawingml/2006/main">
            <a:off x="7639050" y="2171700"/>
            <a:ext cx="838200" cy="0"/>
          </a:xfrm>
          <a:prstGeom xmlns:a="http://schemas.openxmlformats.org/drawingml/2006/main" prst="straightConnector1">
            <a:avLst/>
          </a:prstGeom>
          <a:ln xmlns:a="http://schemas.openxmlformats.org/drawingml/2006/main" w="20955">
            <a:solidFill>
              <a:srgbClr val="1F4F8F"/>
            </a:solidFill>
            <a:tailEnd type="triangle" w="med" len="med"/>
          </a:ln>
        </p:spPr>
      </p:cxnSp>
      <p:cxnSp>
        <p:nvCxnSpPr>
          <p:cNvPr id="6" name="">
            <a:extLst xmlns:a="http://schemas.openxmlformats.org/drawingml/2006/main">
              <a:ext uri="{FF2B5EF4-FFF2-40B4-BE49-F238E27FC236}">
                <a16:creationId xmlns:a16="http://schemas.microsoft.com/office/drawing/2014/main" id="{5228305D-CA2A-47C2-A2BC-578F507E5629}"/>
              </a:ext>
            </a:extLst>
          </p:cNvPr>
          <p:cNvCxnSpPr>
            <a:stCxn xmlns:a="http://schemas.openxmlformats.org/drawingml/2006/main" id="3" idx="3"/>
            <a:endCxn xmlns:a="http://schemas.openxmlformats.org/drawingml/2006/main" id="4" idx="1"/>
          </p:cNvCxnSpPr>
          <p:nvPr/>
        </p:nvCxnSpPr>
        <p:spPr>
          <a:xfrm xmlns:a="http://schemas.openxmlformats.org/drawingml/2006/main">
            <a:off x="3705225" y="2171700"/>
            <a:ext cx="838200" cy="0"/>
          </a:xfrm>
          <a:prstGeom xmlns:a="http://schemas.openxmlformats.org/drawingml/2006/main" prst="straightConnector1">
            <a:avLst/>
          </a:prstGeom>
          <a:ln xmlns:a="http://schemas.openxmlformats.org/drawingml/2006/main" w="20955">
            <a:solidFill>
              <a:srgbClr val="1F4F8F"/>
            </a:solidFill>
            <a:tailEnd type="triangle" w="med" len="med"/>
          </a:ln>
        </p:spPr>
      </p:cxnSp>
      <p:sp>
        <p:nvSpPr>
          <p:cNvPr id="16" name="La búsqueda activa un evento de dominio">
            <a:extLst xmlns:a="http://schemas.openxmlformats.org/drawingml/2006/main">
              <a:ext uri="{FF2B5EF4-FFF2-40B4-BE49-F238E27FC236}">
                <a16:creationId xmlns:a16="http://schemas.microsoft.com/office/drawing/2014/main" id="{D476B7FE-D61B-4176-B944-29F328862C57}"/>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5334F"/>
                </a:solidFill>
                <a:latin typeface="Arial"/>
                <a:ea typeface="Arial"/>
                <a:cs typeface="Arial"/>
              </a:defRPr>
            </a:defPPr>
          </a:lstStyle>
          <a:p xmlns:a="http://schemas.openxmlformats.org/drawingml/2006/main">
            <a:pPr algn="l">
              <a:defRPr sz="3300" b="1">
                <a:solidFill>
                  <a:srgbClr val="15334F"/>
                </a:solidFill>
                <a:latin typeface="Arial"/>
                <a:ea typeface="Arial"/>
                <a:cs typeface="Arial"/>
              </a:defRPr>
            </a:pPr>
            <a:r>
              <a:rPr sz="3300" b="1">
                <a:solidFill>
                  <a:srgbClr val="15334F"/>
                </a:solidFill>
                <a:latin typeface="Arial"/>
                <a:ea typeface="Arial"/>
                <a:cs typeface="Arial"/>
              </a:rPr>
              <a:t>La búsqueda activa un evento de dominio</a:t>
            </a:r>
          </a:p>
        </p:txBody>
      </p:sp>
      <p:sp>
        <p:nvSpPr>
          <p:cNvPr id="2" name="10">
            <a:extLst xmlns:a="http://schemas.openxmlformats.org/drawingml/2006/main">
              <a:ext uri="{FF2B5EF4-FFF2-40B4-BE49-F238E27FC236}">
                <a16:creationId xmlns:a16="http://schemas.microsoft.com/office/drawing/2014/main" id="{AEDE8F99-6422-435E-9C92-D866A070713D}"/>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10</a:t>
            </a:r>
          </a:p>
        </p:txBody>
      </p:sp>
      <p:sp>
        <p:nvSpPr>
          <p:cNvPr id="3" name="Crear búsqueda">
            <a:extLst xmlns:a="http://schemas.openxmlformats.org/drawingml/2006/main">
              <a:ext uri="{FF2B5EF4-FFF2-40B4-BE49-F238E27FC236}">
                <a16:creationId xmlns:a16="http://schemas.microsoft.com/office/drawing/2014/main" id="{F953FDF5-6C07-4094-97A2-454243B1A0A5}"/>
              </a:ext>
            </a:extLst>
          </p:cNvPr>
          <p:cNvSpPr>
            <a:spLocks xmlns:a="http://schemas.openxmlformats.org/drawingml/2006/main" noGrp="1"/>
          </p:cNvSpPr>
          <p:nvPr/>
        </p:nvSpPr>
        <p:spPr>
          <a:xfrm xmlns:a="http://schemas.openxmlformats.org/drawingml/2006/main">
            <a:off x="609600" y="1762125"/>
            <a:ext cx="3095625" cy="819150"/>
          </a:xfrm>
          <a:prstGeom xmlns:a="http://schemas.openxmlformats.org/drawingml/2006/main" prst="rect">
            <a:avLst/>
          </a:prstGeom>
          <a:solidFill xmlns:a="http://schemas.openxmlformats.org/drawingml/2006/main">
            <a:srgbClr val="EDF3FA"/>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Crear búsqueda</a:t>
            </a:r>
          </a:p>
        </p:txBody>
      </p:sp>
      <p:sp>
        <p:nvSpPr>
          <p:cNvPr id="4" name="Guardar como&#10;Pendiente">
            <a:extLst xmlns:a="http://schemas.openxmlformats.org/drawingml/2006/main">
              <a:ext uri="{FF2B5EF4-FFF2-40B4-BE49-F238E27FC236}">
                <a16:creationId xmlns:a16="http://schemas.microsoft.com/office/drawing/2014/main" id="{4CD2FD03-C936-40F9-89C1-217B7CBCE4AE}"/>
              </a:ext>
            </a:extLst>
          </p:cNvPr>
          <p:cNvSpPr>
            <a:spLocks xmlns:a="http://schemas.openxmlformats.org/drawingml/2006/main" noGrp="1"/>
          </p:cNvSpPr>
          <p:nvPr/>
        </p:nvSpPr>
        <p:spPr>
          <a:xfrm xmlns:a="http://schemas.openxmlformats.org/drawingml/2006/main">
            <a:off x="4543425" y="1762125"/>
            <a:ext cx="3095625" cy="819150"/>
          </a:xfrm>
          <a:prstGeom xmlns:a="http://schemas.openxmlformats.org/drawingml/2006/main" prst="rect">
            <a:avLst/>
          </a:prstGeom>
          <a:solidFill xmlns:a="http://schemas.openxmlformats.org/drawingml/2006/main">
            <a:srgbClr val="EDF3FA"/>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Guardar como</a:t>
            </a:r>
          </a:p>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Pendiente</a:t>
            </a:r>
          </a:p>
        </p:txBody>
      </p:sp>
      <p:sp>
        <p:nvSpPr>
          <p:cNvPr id="5" name="Despachar&#10;BusquedaCreada">
            <a:extLst xmlns:a="http://schemas.openxmlformats.org/drawingml/2006/main">
              <a:ext uri="{FF2B5EF4-FFF2-40B4-BE49-F238E27FC236}">
                <a16:creationId xmlns:a16="http://schemas.microsoft.com/office/drawing/2014/main" id="{59066B0D-1163-4BC1-9B1C-608B35398755}"/>
              </a:ext>
            </a:extLst>
          </p:cNvPr>
          <p:cNvSpPr>
            <a:spLocks xmlns:a="http://schemas.openxmlformats.org/drawingml/2006/main" noGrp="1"/>
          </p:cNvSpPr>
          <p:nvPr/>
        </p:nvSpPr>
        <p:spPr>
          <a:xfrm xmlns:a="http://schemas.openxmlformats.org/drawingml/2006/main">
            <a:off x="8477250" y="1762125"/>
            <a:ext cx="3095625" cy="819150"/>
          </a:xfrm>
          <a:prstGeom xmlns:a="http://schemas.openxmlformats.org/drawingml/2006/main" prst="rect">
            <a:avLst/>
          </a:prstGeom>
          <a:solidFill xmlns:a="http://schemas.openxmlformats.org/drawingml/2006/main">
            <a:srgbClr val="FFF2E8"/>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Despachar</a:t>
            </a:r>
          </a:p>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BusquedaCreada</a:t>
            </a:r>
          </a:p>
        </p:txBody>
      </p:sp>
      <p:sp>
        <p:nvSpPr>
          <p:cNvPr id="8" name="Observador de&#10;compatibilidad">
            <a:extLst xmlns:a="http://schemas.openxmlformats.org/drawingml/2006/main">
              <a:ext uri="{FF2B5EF4-FFF2-40B4-BE49-F238E27FC236}">
                <a16:creationId xmlns:a16="http://schemas.microsoft.com/office/drawing/2014/main" id="{57884AB0-7B45-4A8A-ADBF-FB593BDA007B}"/>
              </a:ext>
            </a:extLst>
          </p:cNvPr>
          <p:cNvSpPr>
            <a:spLocks xmlns:a="http://schemas.openxmlformats.org/drawingml/2006/main" noGrp="1"/>
          </p:cNvSpPr>
          <p:nvPr/>
        </p:nvSpPr>
        <p:spPr>
          <a:xfrm xmlns:a="http://schemas.openxmlformats.org/drawingml/2006/main">
            <a:off x="8477250" y="3619500"/>
            <a:ext cx="3095625" cy="952500"/>
          </a:xfrm>
          <a:prstGeom xmlns:a="http://schemas.openxmlformats.org/drawingml/2006/main" prst="rect">
            <a:avLst/>
          </a:prstGeom>
          <a:solidFill xmlns:a="http://schemas.openxmlformats.org/drawingml/2006/main">
            <a:srgbClr val="FFF2E8"/>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Observador de</a:t>
            </a:r>
          </a:p>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compatibilidad</a:t>
            </a:r>
          </a:p>
        </p:txBody>
      </p:sp>
      <p:sp>
        <p:nvSpPr>
          <p:cNvPr id="9" name="Consultar catálogo&#10;y asignar códigos">
            <a:extLst xmlns:a="http://schemas.openxmlformats.org/drawingml/2006/main">
              <a:ext uri="{FF2B5EF4-FFF2-40B4-BE49-F238E27FC236}">
                <a16:creationId xmlns:a16="http://schemas.microsoft.com/office/drawing/2014/main" id="{633A8D07-8776-4DE9-9435-722A1C37A4A0}"/>
              </a:ext>
            </a:extLst>
          </p:cNvPr>
          <p:cNvSpPr>
            <a:spLocks xmlns:a="http://schemas.openxmlformats.org/drawingml/2006/main" noGrp="1"/>
          </p:cNvSpPr>
          <p:nvPr/>
        </p:nvSpPr>
        <p:spPr>
          <a:xfrm xmlns:a="http://schemas.openxmlformats.org/drawingml/2006/main">
            <a:off x="4543425" y="3619500"/>
            <a:ext cx="3095625" cy="952500"/>
          </a:xfrm>
          <a:prstGeom xmlns:a="http://schemas.openxmlformats.org/drawingml/2006/main" prst="rect">
            <a:avLst/>
          </a:prstGeom>
          <a:solidFill xmlns:a="http://schemas.openxmlformats.org/drawingml/2006/main">
            <a:srgbClr val="EAF4EE"/>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Consultar catálogo</a:t>
            </a:r>
          </a:p>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y asignar códigos</a:t>
            </a:r>
          </a:p>
        </p:txBody>
      </p:sp>
      <p:sp>
        <p:nvSpPr>
          <p:cNvPr id="10" name="Confirmar estado&#10;y devolver piezas">
            <a:extLst xmlns:a="http://schemas.openxmlformats.org/drawingml/2006/main">
              <a:ext uri="{FF2B5EF4-FFF2-40B4-BE49-F238E27FC236}">
                <a16:creationId xmlns:a16="http://schemas.microsoft.com/office/drawing/2014/main" id="{B06F184D-DBEB-4478-925D-0E54413D31A4}"/>
              </a:ext>
            </a:extLst>
          </p:cNvPr>
          <p:cNvSpPr>
            <a:spLocks xmlns:a="http://schemas.openxmlformats.org/drawingml/2006/main" noGrp="1"/>
          </p:cNvSpPr>
          <p:nvPr/>
        </p:nvSpPr>
        <p:spPr>
          <a:xfrm xmlns:a="http://schemas.openxmlformats.org/drawingml/2006/main">
            <a:off x="609600" y="3619500"/>
            <a:ext cx="3095625" cy="952500"/>
          </a:xfrm>
          <a:prstGeom xmlns:a="http://schemas.openxmlformats.org/drawingml/2006/main" prst="rect">
            <a:avLst/>
          </a:prstGeom>
          <a:solidFill xmlns:a="http://schemas.openxmlformats.org/drawingml/2006/main">
            <a:srgbClr val="EAF4EE"/>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Confirmar estado</a:t>
            </a:r>
          </a:p>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y devolver piezas</a:t>
            </a:r>
          </a:p>
        </p:txBody>
      </p:sp>
      <p:sp>
        <p:nvSpPr>
          <p:cNvPr id="14" name="Observer separa la creación de la búsque">
            <a:extLst xmlns:a="http://schemas.openxmlformats.org/drawingml/2006/main">
              <a:ext uri="{FF2B5EF4-FFF2-40B4-BE49-F238E27FC236}">
                <a16:creationId xmlns:a16="http://schemas.microsoft.com/office/drawing/2014/main" id="{6EAAACC0-6612-4F38-8B1F-11818C4439E9}"/>
              </a:ext>
            </a:extLst>
          </p:cNvPr>
          <p:cNvSpPr>
            <a:spLocks xmlns:a="http://schemas.openxmlformats.org/drawingml/2006/main" noGrp="1"/>
          </p:cNvSpPr>
          <p:nvPr/>
        </p:nvSpPr>
        <p:spPr>
          <a:xfrm xmlns:a="http://schemas.openxmlformats.org/drawingml/2006/main">
            <a:off x="609600" y="52578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15334F"/>
                </a:solidFill>
                <a:latin typeface="Arial"/>
                <a:ea typeface="Arial"/>
                <a:cs typeface="Arial"/>
              </a:defRPr>
            </a:defPPr>
          </a:lstStyle>
          <a:p xmlns:a="http://schemas.openxmlformats.org/drawingml/2006/main">
            <a:pPr algn="l">
              <a:defRPr sz="2175" b="0">
                <a:solidFill>
                  <a:srgbClr val="15334F"/>
                </a:solidFill>
                <a:latin typeface="Arial"/>
                <a:ea typeface="Arial"/>
                <a:cs typeface="Arial"/>
              </a:defRPr>
            </a:pPr>
            <a:r>
              <a:rPr sz="2175" b="0">
                <a:solidFill>
                  <a:srgbClr val="15334F"/>
                </a:solidFill>
                <a:latin typeface="Arial"/>
                <a:ea typeface="Arial"/>
                <a:cs typeface="Arial"/>
              </a:rPr>
              <a:t>Observer separa la creación de la búsqueda de la selección de piezas.</a:t>
            </a:r>
          </a:p>
        </p:txBody>
      </p:sp>
      <p:sp>
        <p:nvSpPr>
          <p:cNvPr id="15" name="Despacho actual: en proceso. RabbitMQ pe">
            <a:extLst xmlns:a="http://schemas.openxmlformats.org/drawingml/2006/main">
              <a:ext uri="{FF2B5EF4-FFF2-40B4-BE49-F238E27FC236}">
                <a16:creationId xmlns:a16="http://schemas.microsoft.com/office/drawing/2014/main" id="{47452EE6-4214-4C0D-B7EC-30910781B2C8}"/>
              </a:ext>
            </a:extLst>
          </p:cNvPr>
          <p:cNvSpPr>
            <a:spLocks xmlns:a="http://schemas.openxmlformats.org/drawingml/2006/main" noGrp="1"/>
          </p:cNvSpPr>
          <p:nvPr/>
        </p:nvSpPr>
        <p:spPr>
          <a:xfrm xmlns:a="http://schemas.openxmlformats.org/drawingml/2006/main">
            <a:off x="609600" y="59055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53697A"/>
                </a:solidFill>
                <a:latin typeface="Arial"/>
                <a:ea typeface="Arial"/>
                <a:cs typeface="Arial"/>
              </a:defRPr>
            </a:defPPr>
          </a:lstStyle>
          <a:p xmlns:a="http://schemas.openxmlformats.org/drawingml/2006/main">
            <a:pPr algn="l">
              <a:defRPr sz="1875" b="0">
                <a:solidFill>
                  <a:srgbClr val="53697A"/>
                </a:solidFill>
                <a:latin typeface="Arial"/>
                <a:ea typeface="Arial"/>
                <a:cs typeface="Arial"/>
              </a:defRPr>
            </a:pPr>
            <a:r>
              <a:rPr sz="1875" b="0">
                <a:solidFill>
                  <a:srgbClr val="53697A"/>
                </a:solidFill>
                <a:latin typeface="Arial"/>
                <a:ea typeface="Arial"/>
                <a:cs typeface="Arial"/>
              </a:rPr>
              <a:t>Despacho actual: en proceso. RabbitMQ pertenece a la siguiente etapa.</a:t>
            </a:r>
          </a:p>
        </p:txBody>
      </p:sp>
    </p:spTree>
    <p:extLst>
      <p:ext uri="{BB962C8B-B14F-4D97-AF65-F5344CB8AC3E}">
        <p14:creationId xmlns:p14="http://schemas.microsoft.com/office/powerpoint/2010/main" val="14679290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Patrones aplicados">
            <a:extLst xmlns:a="http://schemas.openxmlformats.org/drawingml/2006/main">
              <a:ext uri="{FF2B5EF4-FFF2-40B4-BE49-F238E27FC236}">
                <a16:creationId xmlns:a16="http://schemas.microsoft.com/office/drawing/2014/main" id="{F09B6DF2-6013-4299-91CB-0B8F75ABC357}"/>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5334F"/>
                </a:solidFill>
                <a:latin typeface="Arial"/>
                <a:ea typeface="Arial"/>
                <a:cs typeface="Arial"/>
              </a:defRPr>
            </a:defPPr>
          </a:lstStyle>
          <a:p xmlns:a="http://schemas.openxmlformats.org/drawingml/2006/main">
            <a:pPr algn="l">
              <a:defRPr sz="3300" b="1">
                <a:solidFill>
                  <a:srgbClr val="15334F"/>
                </a:solidFill>
                <a:latin typeface="Arial"/>
                <a:ea typeface="Arial"/>
                <a:cs typeface="Arial"/>
              </a:defRPr>
            </a:pPr>
            <a:r>
              <a:rPr sz="3300" b="1">
                <a:solidFill>
                  <a:srgbClr val="15334F"/>
                </a:solidFill>
                <a:latin typeface="Arial"/>
                <a:ea typeface="Arial"/>
                <a:cs typeface="Arial"/>
              </a:rPr>
              <a:t>Patrones aplicados</a:t>
            </a:r>
          </a:p>
        </p:txBody>
      </p:sp>
      <p:sp>
        <p:nvSpPr>
          <p:cNvPr id="2" name="11">
            <a:extLst xmlns:a="http://schemas.openxmlformats.org/drawingml/2006/main">
              <a:ext uri="{FF2B5EF4-FFF2-40B4-BE49-F238E27FC236}">
                <a16:creationId xmlns:a16="http://schemas.microsoft.com/office/drawing/2014/main" id="{2331001D-A518-432E-994D-969CE9EDEC18}"/>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ADFE5ECC-C66D-44DF-B088-4C3CC5C64935}"/>
              </a:ext>
            </a:extLst>
          </p:cNvPr>
          <p:cNvGraphicFramePr/>
          <p:nvPr/>
        </p:nvGraphicFramePr>
        <p:xfrm>
          <a:off xmlns:a="http://schemas.openxmlformats.org/drawingml/2006/main" x="609600" y="1628775"/>
          <a:ext xmlns:a="http://schemas.openxmlformats.org/drawingml/2006/main" cx="10972800" cy="4238625"/>
        </p:xfrm>
        <a:graphic xmlns:a="http://schemas.openxmlformats.org/drawingml/2006/main">
          <a:graphicData uri="http://schemas.openxmlformats.org/drawingml/2006/table">
            <a:tbl>
              <a:tblPr/>
              <a:tblGrid>
                <a:gridCol w="3714750"/>
                <a:gridCol w="7258050"/>
              </a:tblGrid>
              <a:tr h="706438">
                <a:tc>
                  <a:txBody>
                    <a:bodyPr/>
                    <a:lstStyle/>
                    <a:p>
                      <a:r>
                        <a:rPr sz="1950" b="1">
                          <a:solidFill>
                            <a:srgbClr val="FFFFFF"/>
                          </a:solidFill>
                          <a:latin typeface="Arial"/>
                          <a:ea typeface="Arial"/>
                          <a:cs typeface="Arial"/>
                        </a:rPr>
                        <a:t>Patrón</a:t>
                      </a:r>
                    </a:p>
                  </a:txBody>
                  <a:tcPr marL="91440" marR="91440" marT="45720" marB="45720" anchor="ctr">
                    <a:solidFill>
                      <a:srgbClr val="1F4F8F"/>
                    </a:solidFill>
                  </a:tcPr>
                </a:tc>
                <a:tc>
                  <a:txBody>
                    <a:bodyPr/>
                    <a:lstStyle/>
                    <a:p>
                      <a:r>
                        <a:rPr sz="1950" b="1">
                          <a:solidFill>
                            <a:srgbClr val="FFFFFF"/>
                          </a:solidFill>
                          <a:latin typeface="Arial"/>
                          <a:ea typeface="Arial"/>
                          <a:cs typeface="Arial"/>
                        </a:rPr>
                        <a:t>Aplicación concreta</a:t>
                      </a:r>
                    </a:p>
                  </a:txBody>
                  <a:tcPr marL="91440" marR="91440" marT="45720" marB="45720" anchor="ctr">
                    <a:solidFill>
                      <a:srgbClr val="1F4F8F"/>
                    </a:solidFill>
                  </a:tcPr>
                </a:tc>
              </a:tr>
              <a:tr h="706438">
                <a:tc>
                  <a:txBody>
                    <a:bodyPr/>
                    <a:lstStyle/>
                    <a:p>
                      <a:r>
                        <a:rPr sz="1950" b="0">
                          <a:solidFill>
                            <a:srgbClr val="15334F"/>
                          </a:solidFill>
                          <a:latin typeface="Arial"/>
                          <a:ea typeface="Arial"/>
                          <a:cs typeface="Arial"/>
                        </a:rPr>
                        <a:t>Factory y Strategy</a:t>
                      </a:r>
                    </a:p>
                  </a:txBody>
                  <a:tcPr marL="91440" marR="91440" marT="45720" marB="45720" anchor="ctr">
                    <a:solidFill>
                      <a:srgbClr val="F2F6FA"/>
                    </a:solidFill>
                  </a:tcPr>
                </a:tc>
                <a:tc>
                  <a:txBody>
                    <a:bodyPr/>
                    <a:lstStyle/>
                    <a:p>
                      <a:r>
                        <a:rPr sz="1950" b="0">
                          <a:solidFill>
                            <a:srgbClr val="15334F"/>
                          </a:solidFill>
                          <a:latin typeface="Arial"/>
                          <a:ea typeface="Arial"/>
                          <a:cs typeface="Arial"/>
                        </a:rPr>
                        <a:t>Elegir CatalogoLocal o CatalogoRemoto</a:t>
                      </a:r>
                    </a:p>
                  </a:txBody>
                  <a:tcPr marL="91440" marR="91440" marT="45720" marB="45720" anchor="ctr">
                    <a:solidFill>
                      <a:srgbClr val="F2F6FA"/>
                    </a:solidFill>
                  </a:tcPr>
                </a:tc>
              </a:tr>
              <a:tr h="706438">
                <a:tc>
                  <a:txBody>
                    <a:bodyPr/>
                    <a:lstStyle/>
                    <a:p>
                      <a:r>
                        <a:rPr sz="1950" b="0">
                          <a:solidFill>
                            <a:srgbClr val="15334F"/>
                          </a:solidFill>
                          <a:latin typeface="Arial"/>
                          <a:ea typeface="Arial"/>
                          <a:cs typeface="Arial"/>
                        </a:rPr>
                        <a:t>Repository y Unit of Work</a:t>
                      </a:r>
                    </a:p>
                  </a:txBody>
                  <a:tcPr marL="91440" marR="91440" marT="45720" marB="45720" anchor="ctr">
                    <a:solidFill>
                      <a:srgbClr val="FFFFFF"/>
                    </a:solidFill>
                  </a:tcPr>
                </a:tc>
                <a:tc>
                  <a:txBody>
                    <a:bodyPr/>
                    <a:lstStyle/>
                    <a:p>
                      <a:r>
                        <a:rPr sz="1950" b="0">
                          <a:solidFill>
                            <a:srgbClr val="15334F"/>
                          </a:solidFill>
                          <a:latin typeface="Arial"/>
                          <a:ea typeface="Arial"/>
                          <a:cs typeface="Arial"/>
                        </a:rPr>
                        <a:t>Consultar y confirmar la persistencia</a:t>
                      </a:r>
                    </a:p>
                  </a:txBody>
                  <a:tcPr marL="91440" marR="91440" marT="45720" marB="45720" anchor="ctr">
                    <a:solidFill>
                      <a:srgbClr val="FFFFFF"/>
                    </a:solidFill>
                  </a:tcPr>
                </a:tc>
              </a:tr>
              <a:tr h="706438">
                <a:tc>
                  <a:txBody>
                    <a:bodyPr/>
                    <a:lstStyle/>
                    <a:p>
                      <a:r>
                        <a:rPr sz="1950" b="0">
                          <a:solidFill>
                            <a:srgbClr val="15334F"/>
                          </a:solidFill>
                          <a:latin typeface="Arial"/>
                          <a:ea typeface="Arial"/>
                          <a:cs typeface="Arial"/>
                        </a:rPr>
                        <a:t>Observer</a:t>
                      </a:r>
                    </a:p>
                  </a:txBody>
                  <a:tcPr marL="91440" marR="91440" marT="45720" marB="45720" anchor="ctr">
                    <a:solidFill>
                      <a:srgbClr val="F2F6FA"/>
                    </a:solidFill>
                  </a:tcPr>
                </a:tc>
                <a:tc>
                  <a:txBody>
                    <a:bodyPr/>
                    <a:lstStyle/>
                    <a:p>
                      <a:r>
                        <a:rPr sz="1950" b="0">
                          <a:solidFill>
                            <a:srgbClr val="15334F"/>
                          </a:solidFill>
                          <a:latin typeface="Arial"/>
                          <a:ea typeface="Arial"/>
                          <a:cs typeface="Arial"/>
                        </a:rPr>
                        <a:t>Procesar BusquedaCreada por compatibilidad</a:t>
                      </a:r>
                    </a:p>
                  </a:txBody>
                  <a:tcPr marL="91440" marR="91440" marT="45720" marB="45720" anchor="ctr">
                    <a:solidFill>
                      <a:srgbClr val="F2F6FA"/>
                    </a:solidFill>
                  </a:tcPr>
                </a:tc>
              </a:tr>
              <a:tr h="706438">
                <a:tc>
                  <a:txBody>
                    <a:bodyPr/>
                    <a:lstStyle/>
                    <a:p>
                      <a:r>
                        <a:rPr sz="1950" b="0">
                          <a:solidFill>
                            <a:srgbClr val="15334F"/>
                          </a:solidFill>
                          <a:latin typeface="Arial"/>
                          <a:ea typeface="Arial"/>
                          <a:cs typeface="Arial"/>
                        </a:rPr>
                        <a:t>Facade</a:t>
                      </a:r>
                    </a:p>
                  </a:txBody>
                  <a:tcPr marL="91440" marR="91440" marT="45720" marB="45720" anchor="ctr">
                    <a:solidFill>
                      <a:srgbClr val="FFFFFF"/>
                    </a:solidFill>
                  </a:tcPr>
                </a:tc>
                <a:tc>
                  <a:txBody>
                    <a:bodyPr/>
                    <a:lstStyle/>
                    <a:p>
                      <a:r>
                        <a:rPr sz="1950" b="0">
                          <a:solidFill>
                            <a:srgbClr val="15334F"/>
                          </a:solidFill>
                          <a:latin typeface="Arial"/>
                          <a:ea typeface="Arial"/>
                          <a:cs typeface="Arial"/>
                        </a:rPr>
                        <a:t>Coordinar las operaciones de la Web</a:t>
                      </a:r>
                    </a:p>
                  </a:txBody>
                  <a:tcPr marL="91440" marR="91440" marT="45720" marB="45720" anchor="ctr">
                    <a:solidFill>
                      <a:srgbClr val="FFFFFF"/>
                    </a:solidFill>
                  </a:tcPr>
                </a:tc>
              </a:tr>
              <a:tr h="706438">
                <a:tc>
                  <a:txBody>
                    <a:bodyPr/>
                    <a:lstStyle/>
                    <a:p>
                      <a:r>
                        <a:rPr sz="1950" b="0">
                          <a:solidFill>
                            <a:srgbClr val="15334F"/>
                          </a:solidFill>
                          <a:latin typeface="Arial"/>
                          <a:ea typeface="Arial"/>
                          <a:cs typeface="Arial"/>
                        </a:rPr>
                        <a:t>Adapter</a:t>
                      </a:r>
                    </a:p>
                  </a:txBody>
                  <a:tcPr marL="91440" marR="91440" marT="45720" marB="45720" anchor="ctr">
                    <a:solidFill>
                      <a:srgbClr val="F2F6FA"/>
                    </a:solidFill>
                  </a:tcPr>
                </a:tc>
                <a:tc>
                  <a:txBody>
                    <a:bodyPr/>
                    <a:lstStyle/>
                    <a:p>
                      <a:r>
                        <a:rPr sz="1950" b="0">
                          <a:solidFill>
                            <a:srgbClr val="15334F"/>
                          </a:solidFill>
                          <a:latin typeface="Arial"/>
                          <a:ea typeface="Arial"/>
                          <a:cs typeface="Arial"/>
                        </a:rPr>
                        <a:t>Adaptar HTTP al contrato del catálogo</a:t>
                      </a:r>
                    </a:p>
                  </a:txBody>
                  <a:tcPr marL="91440" marR="91440" marT="45720" marB="45720" anchor="ctr">
                    <a:solidFill>
                      <a:srgbClr val="F2F6FA"/>
                    </a:solidFill>
                  </a:tcPr>
                </a:tc>
              </a:tr>
            </a:tbl>
          </a:graphicData>
        </a:graphic>
      </p:graphicFrame>
    </p:spTree>
    <p:extLst>
      <p:ext uri="{BB962C8B-B14F-4D97-AF65-F5344CB8AC3E}">
        <p14:creationId xmlns:p14="http://schemas.microsoft.com/office/powerpoint/2010/main" val="11911461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BD68AC07-09B9-43B9-BFCB-3F9B6B645CCC}"/>
              </a:ext>
            </a:extLst>
          </p:cNvPr>
          <p:cNvCxnSpPr>
            <a:stCxn xmlns:a="http://schemas.openxmlformats.org/drawingml/2006/main" id="5" idx="2"/>
            <a:endCxn xmlns:a="http://schemas.openxmlformats.org/drawingml/2006/main" id="6" idx="3"/>
          </p:cNvCxnSpPr>
          <p:nvPr/>
        </p:nvCxnSpPr>
        <p:spPr>
          <a:xfrm xmlns:a="http://schemas.openxmlformats.org/drawingml/2006/main" flipH="1">
            <a:off x="9848850" y="2733675"/>
            <a:ext cx="223838" cy="1943100"/>
          </a:xfrm>
          <a:prstGeom xmlns:a="http://schemas.openxmlformats.org/drawingml/2006/main" prst="bentConnector3">
            <a:avLst>
              <a:gd name="adj1" fmla="val 0"/>
            </a:avLst>
          </a:prstGeom>
          <a:ln xmlns:a="http://schemas.openxmlformats.org/drawingml/2006/main" w="20955">
            <a:solidFill>
              <a:srgbClr val="1F4F8F"/>
            </a:solidFill>
            <a:tailEnd type="triangle" w="med" len="med"/>
          </a:ln>
        </p:spPr>
      </p:cxnSp>
      <p:cxnSp>
        <p:nvCxnSpPr>
          <p:cNvPr id="9" name="">
            <a:extLst xmlns:a="http://schemas.openxmlformats.org/drawingml/2006/main">
              <a:ext uri="{FF2B5EF4-FFF2-40B4-BE49-F238E27FC236}">
                <a16:creationId xmlns:a16="http://schemas.microsoft.com/office/drawing/2014/main" id="{99EF650E-3B80-48AC-ABCF-E78BBB12A9A6}"/>
              </a:ext>
            </a:extLst>
          </p:cNvPr>
          <p:cNvCxnSpPr>
            <a:stCxn xmlns:a="http://schemas.openxmlformats.org/drawingml/2006/main" id="4" idx="2"/>
            <a:endCxn xmlns:a="http://schemas.openxmlformats.org/drawingml/2006/main" id="6" idx="0"/>
          </p:cNvCxnSpPr>
          <p:nvPr/>
        </p:nvCxnSpPr>
        <p:spPr>
          <a:xfrm xmlns:a="http://schemas.openxmlformats.org/drawingml/2006/main">
            <a:off x="5824538" y="2733675"/>
            <a:ext cx="2214563" cy="1428750"/>
          </a:xfrm>
          <a:prstGeom xmlns:a="http://schemas.openxmlformats.org/drawingml/2006/main" prst="bentConnector4">
            <a:avLst>
              <a:gd name="adj1" fmla="val 0"/>
              <a:gd name="adj2" fmla="val 50000"/>
            </a:avLst>
          </a:prstGeom>
          <a:ln xmlns:a="http://schemas.openxmlformats.org/drawingml/2006/main" w="20955">
            <a:solidFill>
              <a:srgbClr val="1F4F8F"/>
            </a:solidFill>
            <a:tailEnd type="triangle" w="med" len="med"/>
          </a:ln>
        </p:spPr>
      </p:cxnSp>
      <p:cxnSp>
        <p:nvCxnSpPr>
          <p:cNvPr id="8" name="">
            <a:extLst xmlns:a="http://schemas.openxmlformats.org/drawingml/2006/main">
              <a:ext uri="{FF2B5EF4-FFF2-40B4-BE49-F238E27FC236}">
                <a16:creationId xmlns:a16="http://schemas.microsoft.com/office/drawing/2014/main" id="{F14FB70E-D226-416B-AF89-C34898AF226B}"/>
              </a:ext>
            </a:extLst>
          </p:cNvPr>
          <p:cNvCxnSpPr>
            <a:stCxn xmlns:a="http://schemas.openxmlformats.org/drawingml/2006/main" id="4" idx="3"/>
            <a:endCxn xmlns:a="http://schemas.openxmlformats.org/drawingml/2006/main" id="5" idx="1"/>
          </p:cNvCxnSpPr>
          <p:nvPr/>
        </p:nvCxnSpPr>
        <p:spPr>
          <a:xfrm xmlns:a="http://schemas.openxmlformats.org/drawingml/2006/main">
            <a:off x="7419975" y="2276475"/>
            <a:ext cx="1143000" cy="0"/>
          </a:xfrm>
          <a:prstGeom xmlns:a="http://schemas.openxmlformats.org/drawingml/2006/main" prst="straightConnector1">
            <a:avLst/>
          </a:prstGeom>
          <a:ln xmlns:a="http://schemas.openxmlformats.org/drawingml/2006/main" w="20955">
            <a:solidFill>
              <a:srgbClr val="1F4F8F"/>
            </a:solidFill>
            <a:tailEnd type="triangle" w="med" len="med"/>
          </a:ln>
        </p:spPr>
      </p:cxnSp>
      <p:cxnSp>
        <p:nvCxnSpPr>
          <p:cNvPr id="7" name="">
            <a:extLst xmlns:a="http://schemas.openxmlformats.org/drawingml/2006/main">
              <a:ext uri="{FF2B5EF4-FFF2-40B4-BE49-F238E27FC236}">
                <a16:creationId xmlns:a16="http://schemas.microsoft.com/office/drawing/2014/main" id="{B6E8D267-8725-4B69-B390-A4352DC85F3E}"/>
              </a:ext>
            </a:extLst>
          </p:cNvPr>
          <p:cNvCxnSpPr>
            <a:stCxn xmlns:a="http://schemas.openxmlformats.org/drawingml/2006/main" id="3" idx="3"/>
            <a:endCxn xmlns:a="http://schemas.openxmlformats.org/drawingml/2006/main" id="4" idx="1"/>
          </p:cNvCxnSpPr>
          <p:nvPr/>
        </p:nvCxnSpPr>
        <p:spPr>
          <a:xfrm xmlns:a="http://schemas.openxmlformats.org/drawingml/2006/main">
            <a:off x="3086100" y="2276475"/>
            <a:ext cx="1143000" cy="0"/>
          </a:xfrm>
          <a:prstGeom xmlns:a="http://schemas.openxmlformats.org/drawingml/2006/main" prst="straightConnector1">
            <a:avLst/>
          </a:prstGeom>
          <a:ln xmlns:a="http://schemas.openxmlformats.org/drawingml/2006/main" w="20955">
            <a:solidFill>
              <a:srgbClr val="1F4F8F"/>
            </a:solidFill>
            <a:tailEnd type="triangle" w="med" len="med"/>
          </a:ln>
        </p:spPr>
      </p:cxnSp>
      <p:sp>
        <p:nvSpPr>
          <p:cNvPr id="15" name="Despliegue de laboratorio">
            <a:extLst xmlns:a="http://schemas.openxmlformats.org/drawingml/2006/main">
              <a:ext uri="{FF2B5EF4-FFF2-40B4-BE49-F238E27FC236}">
                <a16:creationId xmlns:a16="http://schemas.microsoft.com/office/drawing/2014/main" id="{6401496D-29A0-4475-8F11-B7AD6D5C7338}"/>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5334F"/>
                </a:solidFill>
                <a:latin typeface="Arial"/>
                <a:ea typeface="Arial"/>
                <a:cs typeface="Arial"/>
              </a:defRPr>
            </a:defPPr>
          </a:lstStyle>
          <a:p xmlns:a="http://schemas.openxmlformats.org/drawingml/2006/main">
            <a:pPr algn="l">
              <a:defRPr sz="3300" b="1">
                <a:solidFill>
                  <a:srgbClr val="15334F"/>
                </a:solidFill>
                <a:latin typeface="Arial"/>
                <a:ea typeface="Arial"/>
                <a:cs typeface="Arial"/>
              </a:defRPr>
            </a:pPr>
            <a:r>
              <a:rPr sz="3300" b="1">
                <a:solidFill>
                  <a:srgbClr val="15334F"/>
                </a:solidFill>
                <a:latin typeface="Arial"/>
                <a:ea typeface="Arial"/>
                <a:cs typeface="Arial"/>
              </a:rPr>
              <a:t>Despliegue de laboratorio</a:t>
            </a:r>
          </a:p>
        </p:txBody>
      </p:sp>
      <p:sp>
        <p:nvSpPr>
          <p:cNvPr id="2" name="12">
            <a:extLst xmlns:a="http://schemas.openxmlformats.org/drawingml/2006/main">
              <a:ext uri="{FF2B5EF4-FFF2-40B4-BE49-F238E27FC236}">
                <a16:creationId xmlns:a16="http://schemas.microsoft.com/office/drawing/2014/main" id="{EA30F954-3934-4A60-9E6F-89F2A96B4566}"/>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12</a:t>
            </a:r>
          </a:p>
        </p:txBody>
      </p:sp>
      <p:sp>
        <p:nvSpPr>
          <p:cNvPr id="3" name="Navegador">
            <a:extLst xmlns:a="http://schemas.openxmlformats.org/drawingml/2006/main">
              <a:ext uri="{FF2B5EF4-FFF2-40B4-BE49-F238E27FC236}">
                <a16:creationId xmlns:a16="http://schemas.microsoft.com/office/drawing/2014/main" id="{F40AAA18-DD27-442C-A9F9-13CAFCAD9F47}"/>
              </a:ext>
            </a:extLst>
          </p:cNvPr>
          <p:cNvSpPr>
            <a:spLocks xmlns:a="http://schemas.openxmlformats.org/drawingml/2006/main" noGrp="1"/>
          </p:cNvSpPr>
          <p:nvPr/>
        </p:nvSpPr>
        <p:spPr>
          <a:xfrm xmlns:a="http://schemas.openxmlformats.org/drawingml/2006/main">
            <a:off x="609600" y="1819275"/>
            <a:ext cx="2476500" cy="914400"/>
          </a:xfrm>
          <a:prstGeom xmlns:a="http://schemas.openxmlformats.org/drawingml/2006/main" prst="rect">
            <a:avLst/>
          </a:prstGeom>
          <a:solidFill xmlns:a="http://schemas.openxmlformats.org/drawingml/2006/main">
            <a:srgbClr val="EDF3FA"/>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Navegador</a:t>
            </a:r>
          </a:p>
        </p:txBody>
      </p:sp>
      <p:sp>
        <p:nvSpPr>
          <p:cNvPr id="4" name="RepMatch.Web&#10;Host :8080">
            <a:extLst xmlns:a="http://schemas.openxmlformats.org/drawingml/2006/main">
              <a:ext uri="{FF2B5EF4-FFF2-40B4-BE49-F238E27FC236}">
                <a16:creationId xmlns:a16="http://schemas.microsoft.com/office/drawing/2014/main" id="{D16AAB41-C27D-45EA-ACF6-6565D1C72019}"/>
              </a:ext>
            </a:extLst>
          </p:cNvPr>
          <p:cNvSpPr>
            <a:spLocks xmlns:a="http://schemas.openxmlformats.org/drawingml/2006/main" noGrp="1"/>
          </p:cNvSpPr>
          <p:nvPr/>
        </p:nvSpPr>
        <p:spPr>
          <a:xfrm xmlns:a="http://schemas.openxmlformats.org/drawingml/2006/main">
            <a:off x="4229100" y="1819275"/>
            <a:ext cx="3190875" cy="914400"/>
          </a:xfrm>
          <a:prstGeom xmlns:a="http://schemas.openxmlformats.org/drawingml/2006/main" prst="rect">
            <a:avLst/>
          </a:prstGeom>
          <a:solidFill xmlns:a="http://schemas.openxmlformats.org/drawingml/2006/main">
            <a:srgbClr val="EDF3FA"/>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RepMatch.Web</a:t>
            </a:r>
          </a:p>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Host :8080</a:t>
            </a:r>
          </a:p>
        </p:txBody>
      </p:sp>
      <p:sp>
        <p:nvSpPr>
          <p:cNvPr id="5" name="Catalogo.Api&#10;Host :8081">
            <a:extLst xmlns:a="http://schemas.openxmlformats.org/drawingml/2006/main">
              <a:ext uri="{FF2B5EF4-FFF2-40B4-BE49-F238E27FC236}">
                <a16:creationId xmlns:a16="http://schemas.microsoft.com/office/drawing/2014/main" id="{2A05DD33-24C4-4D66-883D-FB6F2D144C21}"/>
              </a:ext>
            </a:extLst>
          </p:cNvPr>
          <p:cNvSpPr>
            <a:spLocks xmlns:a="http://schemas.openxmlformats.org/drawingml/2006/main" noGrp="1"/>
          </p:cNvSpPr>
          <p:nvPr/>
        </p:nvSpPr>
        <p:spPr>
          <a:xfrm xmlns:a="http://schemas.openxmlformats.org/drawingml/2006/main">
            <a:off x="8562975" y="1819275"/>
            <a:ext cx="3019425" cy="914400"/>
          </a:xfrm>
          <a:prstGeom xmlns:a="http://schemas.openxmlformats.org/drawingml/2006/main" prst="rect">
            <a:avLst/>
          </a:prstGeom>
          <a:solidFill xmlns:a="http://schemas.openxmlformats.org/drawingml/2006/main">
            <a:srgbClr val="FFF2E8"/>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Catalogo.Api</a:t>
            </a:r>
          </a:p>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Host :8081</a:t>
            </a:r>
          </a:p>
        </p:txBody>
      </p:sp>
      <p:sp>
        <p:nvSpPr>
          <p:cNvPr id="6" name="PostgreSQL 17&#10;:5432">
            <a:extLst xmlns:a="http://schemas.openxmlformats.org/drawingml/2006/main">
              <a:ext uri="{FF2B5EF4-FFF2-40B4-BE49-F238E27FC236}">
                <a16:creationId xmlns:a16="http://schemas.microsoft.com/office/drawing/2014/main" id="{3ED3533D-0807-43C1-B5F0-7F086F464003}"/>
              </a:ext>
            </a:extLst>
          </p:cNvPr>
          <p:cNvSpPr>
            <a:spLocks xmlns:a="http://schemas.openxmlformats.org/drawingml/2006/main" noGrp="1"/>
          </p:cNvSpPr>
          <p:nvPr/>
        </p:nvSpPr>
        <p:spPr>
          <a:xfrm xmlns:a="http://schemas.openxmlformats.org/drawingml/2006/main">
            <a:off x="6229350" y="4162425"/>
            <a:ext cx="3619500" cy="1028700"/>
          </a:xfrm>
          <a:prstGeom xmlns:a="http://schemas.openxmlformats.org/drawingml/2006/main" prst="rect">
            <a:avLst/>
          </a:prstGeom>
          <a:solidFill xmlns:a="http://schemas.openxmlformats.org/drawingml/2006/main">
            <a:srgbClr val="EAF4EE"/>
          </a:solidFill>
          <a:ln xmlns:a="http://schemas.openxmlformats.org/drawingml/2006/main" w="14288">
            <a:solidFill>
              <a:srgbClr val="9AAFC1"/>
            </a:solidFill>
          </a:ln>
        </p:spPr>
        <p:txBody>
          <a:bodyPr xmlns:a="http://schemas.openxmlformats.org/drawingml/2006/main" lIns="114300" tIns="114300" rIns="114300" bIns="114300" anchor="ctr"/>
          <a:lstStyle xmlns:a="http://schemas.openxmlformats.org/drawingml/2006/main">
            <a:defPPr algn="ctr">
              <a:defRPr sz="1950" b="1">
                <a:solidFill>
                  <a:srgbClr val="15334F"/>
                </a:solidFill>
                <a:latin typeface="Arial"/>
                <a:ea typeface="Arial"/>
                <a:cs typeface="Arial"/>
              </a:defRPr>
            </a:defPPr>
          </a:lstStyle>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PostgreSQL 17</a:t>
            </a:r>
          </a:p>
          <a:p xmlns:a="http://schemas.openxmlformats.org/drawingml/2006/main">
            <a:pPr algn="ctr">
              <a:defRPr sz="1950" b="1">
                <a:solidFill>
                  <a:srgbClr val="15334F"/>
                </a:solidFill>
                <a:latin typeface="Arial"/>
                <a:ea typeface="Arial"/>
                <a:cs typeface="Arial"/>
              </a:defRPr>
            </a:pPr>
            <a:r>
              <a:rPr sz="1950" b="1">
                <a:solidFill>
                  <a:srgbClr val="15334F"/>
                </a:solidFill>
                <a:latin typeface="Arial"/>
                <a:ea typeface="Arial"/>
                <a:cs typeface="Arial"/>
              </a:rPr>
              <a:t>:5432</a:t>
            </a:r>
          </a:p>
        </p:txBody>
      </p:sp>
      <p:sp>
        <p:nvSpPr>
          <p:cNvPr id="11" name="HTTP / WebSocket">
            <a:extLst xmlns:a="http://schemas.openxmlformats.org/drawingml/2006/main">
              <a:ext uri="{FF2B5EF4-FFF2-40B4-BE49-F238E27FC236}">
                <a16:creationId xmlns:a16="http://schemas.microsoft.com/office/drawing/2014/main" id="{2384F489-CDCA-4E18-8255-E631C4759845}"/>
              </a:ext>
            </a:extLst>
          </p:cNvPr>
          <p:cNvSpPr>
            <a:spLocks xmlns:a="http://schemas.openxmlformats.org/drawingml/2006/main" noGrp="1"/>
          </p:cNvSpPr>
          <p:nvPr/>
        </p:nvSpPr>
        <p:spPr>
          <a:xfrm xmlns:a="http://schemas.openxmlformats.org/drawingml/2006/main">
            <a:off x="666750" y="3028950"/>
            <a:ext cx="3038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53697A"/>
                </a:solidFill>
                <a:latin typeface="Arial"/>
                <a:ea typeface="Arial"/>
                <a:cs typeface="Arial"/>
              </a:defRPr>
            </a:defPPr>
          </a:lstStyle>
          <a:p xmlns:a="http://schemas.openxmlformats.org/drawingml/2006/main">
            <a:pPr algn="l">
              <a:defRPr sz="1800" b="0">
                <a:solidFill>
                  <a:srgbClr val="53697A"/>
                </a:solidFill>
                <a:latin typeface="Arial"/>
                <a:ea typeface="Arial"/>
                <a:cs typeface="Arial"/>
              </a:defRPr>
            </a:pPr>
            <a:r>
              <a:rPr sz="1800" b="0">
                <a:solidFill>
                  <a:srgbClr val="53697A"/>
                </a:solidFill>
                <a:latin typeface="Arial"/>
                <a:ea typeface="Arial"/>
                <a:cs typeface="Arial"/>
              </a:rPr>
              <a:t>HTTP / WebSocket</a:t>
            </a:r>
          </a:p>
        </p:txBody>
      </p:sp>
      <p:sp>
        <p:nvSpPr>
          <p:cNvPr id="12" name="REST + JSON">
            <a:extLst xmlns:a="http://schemas.openxmlformats.org/drawingml/2006/main">
              <a:ext uri="{FF2B5EF4-FFF2-40B4-BE49-F238E27FC236}">
                <a16:creationId xmlns:a16="http://schemas.microsoft.com/office/drawing/2014/main" id="{5CC6EC22-48DD-4D25-999A-50A822AAF8D4}"/>
              </a:ext>
            </a:extLst>
          </p:cNvPr>
          <p:cNvSpPr>
            <a:spLocks xmlns:a="http://schemas.openxmlformats.org/drawingml/2006/main" noGrp="1"/>
          </p:cNvSpPr>
          <p:nvPr/>
        </p:nvSpPr>
        <p:spPr>
          <a:xfrm xmlns:a="http://schemas.openxmlformats.org/drawingml/2006/main">
            <a:off x="8258175" y="30289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53697A"/>
                </a:solidFill>
                <a:latin typeface="Arial"/>
                <a:ea typeface="Arial"/>
                <a:cs typeface="Arial"/>
              </a:defRPr>
            </a:defPPr>
          </a:lstStyle>
          <a:p xmlns:a="http://schemas.openxmlformats.org/drawingml/2006/main">
            <a:pPr algn="l">
              <a:defRPr sz="1800" b="0">
                <a:solidFill>
                  <a:srgbClr val="53697A"/>
                </a:solidFill>
                <a:latin typeface="Arial"/>
                <a:ea typeface="Arial"/>
                <a:cs typeface="Arial"/>
              </a:defRPr>
            </a:pPr>
            <a:r>
              <a:rPr sz="1800" b="0">
                <a:solidFill>
                  <a:srgbClr val="53697A"/>
                </a:solidFill>
                <a:latin typeface="Arial"/>
                <a:ea typeface="Arial"/>
                <a:cs typeface="Arial"/>
              </a:rPr>
              <a:t>REST + JSON</a:t>
            </a:r>
          </a:p>
        </p:txBody>
      </p:sp>
      <p:sp>
        <p:nvSpPr>
          <p:cNvPr id="13" name="Modo Remoto por defecto&#10;Volúmenes para d">
            <a:extLst xmlns:a="http://schemas.openxmlformats.org/drawingml/2006/main">
              <a:ext uri="{FF2B5EF4-FFF2-40B4-BE49-F238E27FC236}">
                <a16:creationId xmlns:a16="http://schemas.microsoft.com/office/drawing/2014/main" id="{4787DE24-42C4-4FB0-B706-B63CAB8071C8}"/>
              </a:ext>
            </a:extLst>
          </p:cNvPr>
          <p:cNvSpPr>
            <a:spLocks xmlns:a="http://schemas.openxmlformats.org/drawingml/2006/main" noGrp="1"/>
          </p:cNvSpPr>
          <p:nvPr/>
        </p:nvSpPr>
        <p:spPr>
          <a:xfrm xmlns:a="http://schemas.openxmlformats.org/drawingml/2006/main">
            <a:off x="609600" y="4171950"/>
            <a:ext cx="46958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15334F"/>
                </a:solidFill>
                <a:latin typeface="Arial"/>
                <a:ea typeface="Arial"/>
                <a:cs typeface="Arial"/>
              </a:defRPr>
            </a:defPPr>
          </a:lstStyle>
          <a:p xmlns:a="http://schemas.openxmlformats.org/drawingml/2006/main">
            <a:pPr algn="l">
              <a:defRPr sz="2175" b="0">
                <a:solidFill>
                  <a:srgbClr val="15334F"/>
                </a:solidFill>
                <a:latin typeface="Arial"/>
                <a:ea typeface="Arial"/>
                <a:cs typeface="Arial"/>
              </a:defRPr>
            </a:pPr>
            <a:r>
              <a:rPr sz="2175" b="0">
                <a:solidFill>
                  <a:srgbClr val="15334F"/>
                </a:solidFill>
                <a:latin typeface="Arial"/>
                <a:ea typeface="Arial"/>
                <a:cs typeface="Arial"/>
              </a:rPr>
              <a:t>Modo Remoto por defecto</a:t>
            </a:r>
          </a:p>
          <a:p xmlns:a="http://schemas.openxmlformats.org/drawingml/2006/main">
            <a:pPr algn="l">
              <a:defRPr sz="2175" b="0">
                <a:solidFill>
                  <a:srgbClr val="15334F"/>
                </a:solidFill>
                <a:latin typeface="Arial"/>
                <a:ea typeface="Arial"/>
                <a:cs typeface="Arial"/>
              </a:defRPr>
            </a:pPr>
            <a:r>
              <a:rPr sz="2175" b="0">
                <a:solidFill>
                  <a:srgbClr val="15334F"/>
                </a:solidFill>
                <a:latin typeface="Arial"/>
                <a:ea typeface="Arial"/>
                <a:cs typeface="Arial"/>
              </a:rPr>
              <a:t>Volúmenes para datos y claves de sesión</a:t>
            </a:r>
          </a:p>
        </p:txBody>
      </p:sp>
      <p:sp>
        <p:nvSpPr>
          <p:cNvPr id="14" name="docker compose up --build --wait">
            <a:extLst xmlns:a="http://schemas.openxmlformats.org/drawingml/2006/main">
              <a:ext uri="{FF2B5EF4-FFF2-40B4-BE49-F238E27FC236}">
                <a16:creationId xmlns:a16="http://schemas.microsoft.com/office/drawing/2014/main" id="{126EE5CB-F9C7-4600-84CD-22CAE5D539D2}"/>
              </a:ext>
            </a:extLst>
          </p:cNvPr>
          <p:cNvSpPr>
            <a:spLocks xmlns:a="http://schemas.openxmlformats.org/drawingml/2006/main" noGrp="1"/>
          </p:cNvSpPr>
          <p:nvPr/>
        </p:nvSpPr>
        <p:spPr>
          <a:xfrm xmlns:a="http://schemas.openxmlformats.org/drawingml/2006/main">
            <a:off x="609600" y="5734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1F4F8F"/>
                </a:solidFill>
                <a:latin typeface="Arial"/>
                <a:ea typeface="Arial"/>
                <a:cs typeface="Arial"/>
              </a:defRPr>
            </a:defPPr>
          </a:lstStyle>
          <a:p xmlns:a="http://schemas.openxmlformats.org/drawingml/2006/main">
            <a:pPr algn="l">
              <a:defRPr sz="2250" b="1">
                <a:solidFill>
                  <a:srgbClr val="1F4F8F"/>
                </a:solidFill>
                <a:latin typeface="Arial"/>
                <a:ea typeface="Arial"/>
                <a:cs typeface="Arial"/>
              </a:defRPr>
            </a:pPr>
            <a:r>
              <a:rPr sz="2250" b="1">
                <a:solidFill>
                  <a:srgbClr val="1F4F8F"/>
                </a:solidFill>
                <a:latin typeface="Arial"/>
                <a:ea typeface="Arial"/>
                <a:cs typeface="Arial"/>
              </a:rPr>
              <a:t>docker compose up --build --wait</a:t>
            </a:r>
          </a:p>
        </p:txBody>
      </p:sp>
    </p:spTree>
    <p:extLst>
      <p:ext uri="{BB962C8B-B14F-4D97-AF65-F5344CB8AC3E}">
        <p14:creationId xmlns:p14="http://schemas.microsoft.com/office/powerpoint/2010/main" val="15371984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uion de la demo">
            <a:extLst xmlns:a="http://schemas.openxmlformats.org/drawingml/2006/main">
              <a:ext uri="{FF2B5EF4-FFF2-40B4-BE49-F238E27FC236}">
                <a16:creationId xmlns:a16="http://schemas.microsoft.com/office/drawing/2014/main" id="{45A3B499-86C2-472A-91AA-7B81B40BFB2F}"/>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5334F"/>
                </a:solidFill>
                <a:latin typeface="Arial"/>
                <a:ea typeface="Arial"/>
                <a:cs typeface="Arial"/>
              </a:defRPr>
            </a:defPPr>
          </a:lstStyle>
          <a:p xmlns:a="http://schemas.openxmlformats.org/drawingml/2006/main">
            <a:pPr algn="l">
              <a:defRPr sz="3300" b="1">
                <a:solidFill>
                  <a:srgbClr val="15334F"/>
                </a:solidFill>
                <a:latin typeface="Arial"/>
                <a:ea typeface="Arial"/>
                <a:cs typeface="Arial"/>
              </a:defRPr>
            </a:pPr>
            <a:r>
              <a:rPr sz="3300" b="1">
                <a:solidFill>
                  <a:srgbClr val="15334F"/>
                </a:solidFill>
                <a:latin typeface="Arial"/>
                <a:ea typeface="Arial"/>
                <a:cs typeface="Arial"/>
              </a:rPr>
              <a:t>Guion de la demo</a:t>
            </a:r>
          </a:p>
        </p:txBody>
      </p:sp>
      <p:sp>
        <p:nvSpPr>
          <p:cNvPr id="2" name="13">
            <a:extLst xmlns:a="http://schemas.openxmlformats.org/drawingml/2006/main">
              <a:ext uri="{FF2B5EF4-FFF2-40B4-BE49-F238E27FC236}">
                <a16:creationId xmlns:a16="http://schemas.microsoft.com/office/drawing/2014/main" id="{0968945B-A1D6-453B-B270-44B1A7DE59BA}"/>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13</a:t>
            </a:r>
          </a:p>
        </p:txBody>
      </p:sp>
      <p:sp>
        <p:nvSpPr>
          <p:cNvPr id="3" name="01   Consultar como visitante">
            <a:extLst xmlns:a="http://schemas.openxmlformats.org/drawingml/2006/main">
              <a:ext uri="{FF2B5EF4-FFF2-40B4-BE49-F238E27FC236}">
                <a16:creationId xmlns:a16="http://schemas.microsoft.com/office/drawing/2014/main" id="{FEB06671-BE9E-4A6D-8FE2-E494879708B0}"/>
              </a:ext>
            </a:extLst>
          </p:cNvPr>
          <p:cNvSpPr>
            <a:spLocks xmlns:a="http://schemas.openxmlformats.org/drawingml/2006/main" noGrp="1"/>
          </p:cNvSpPr>
          <p:nvPr/>
        </p:nvSpPr>
        <p:spPr>
          <a:xfrm xmlns:a="http://schemas.openxmlformats.org/drawingml/2006/main">
            <a:off x="609600" y="1666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25" b="1">
                <a:solidFill>
                  <a:srgbClr val="1F4F8F"/>
                </a:solidFill>
                <a:latin typeface="Arial"/>
                <a:ea typeface="Arial"/>
                <a:cs typeface="Arial"/>
              </a:defRPr>
            </a:defPPr>
          </a:lstStyle>
          <a:p xmlns:a="http://schemas.openxmlformats.org/drawingml/2006/main">
            <a:pPr algn="l">
              <a:defRPr sz="2325" b="1">
                <a:solidFill>
                  <a:srgbClr val="1F4F8F"/>
                </a:solidFill>
                <a:latin typeface="Arial"/>
                <a:ea typeface="Arial"/>
                <a:cs typeface="Arial"/>
              </a:defRPr>
            </a:pPr>
            <a:r>
              <a:rPr sz="2325" b="1">
                <a:solidFill>
                  <a:srgbClr val="1F4F8F"/>
                </a:solidFill>
                <a:latin typeface="Arial"/>
                <a:ea typeface="Arial"/>
                <a:cs typeface="Arial"/>
              </a:rPr>
              <a:t>01   Consultar como visitante</a:t>
            </a:r>
          </a:p>
        </p:txBody>
      </p:sp>
      <p:sp>
        <p:nvSpPr>
          <p:cNvPr id="4" name="02   Ingresar y mostrar el garage">
            <a:extLst xmlns:a="http://schemas.openxmlformats.org/drawingml/2006/main">
              <a:ext uri="{FF2B5EF4-FFF2-40B4-BE49-F238E27FC236}">
                <a16:creationId xmlns:a16="http://schemas.microsoft.com/office/drawing/2014/main" id="{62EA7D70-D045-44E4-BFA9-F3100E9CE621}"/>
              </a:ext>
            </a:extLst>
          </p:cNvPr>
          <p:cNvSpPr>
            <a:spLocks xmlns:a="http://schemas.openxmlformats.org/drawingml/2006/main" noGrp="1"/>
          </p:cNvSpPr>
          <p:nvPr/>
        </p:nvSpPr>
        <p:spPr>
          <a:xfrm xmlns:a="http://schemas.openxmlformats.org/drawingml/2006/main">
            <a:off x="609600" y="23907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25" b="0">
                <a:solidFill>
                  <a:srgbClr val="15334F"/>
                </a:solidFill>
                <a:latin typeface="Arial"/>
                <a:ea typeface="Arial"/>
                <a:cs typeface="Arial"/>
              </a:defRPr>
            </a:defPPr>
          </a:lstStyle>
          <a:p xmlns:a="http://schemas.openxmlformats.org/drawingml/2006/main">
            <a:pPr algn="l">
              <a:defRPr sz="2325" b="0">
                <a:solidFill>
                  <a:srgbClr val="15334F"/>
                </a:solidFill>
                <a:latin typeface="Arial"/>
                <a:ea typeface="Arial"/>
                <a:cs typeface="Arial"/>
              </a:defRPr>
            </a:pPr>
            <a:r>
              <a:rPr sz="2325" b="0">
                <a:solidFill>
                  <a:srgbClr val="15334F"/>
                </a:solidFill>
                <a:latin typeface="Arial"/>
                <a:ea typeface="Arial"/>
                <a:cs typeface="Arial"/>
              </a:rPr>
              <a:t>02   Ingresar y mostrar el garage</a:t>
            </a:r>
          </a:p>
        </p:txBody>
      </p:sp>
      <p:sp>
        <p:nvSpPr>
          <p:cNvPr id="5" name="03   Buscar piezas y revisar el historia">
            <a:extLst xmlns:a="http://schemas.openxmlformats.org/drawingml/2006/main">
              <a:ext uri="{FF2B5EF4-FFF2-40B4-BE49-F238E27FC236}">
                <a16:creationId xmlns:a16="http://schemas.microsoft.com/office/drawing/2014/main" id="{CD61E4FA-4C59-4D7F-BF7E-6EB4D720D993}"/>
              </a:ext>
            </a:extLst>
          </p:cNvPr>
          <p:cNvSpPr>
            <a:spLocks xmlns:a="http://schemas.openxmlformats.org/drawingml/2006/main" noGrp="1"/>
          </p:cNvSpPr>
          <p:nvPr/>
        </p:nvSpPr>
        <p:spPr>
          <a:xfrm xmlns:a="http://schemas.openxmlformats.org/drawingml/2006/main">
            <a:off x="609600" y="31146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25" b="0">
                <a:solidFill>
                  <a:srgbClr val="15334F"/>
                </a:solidFill>
                <a:latin typeface="Arial"/>
                <a:ea typeface="Arial"/>
                <a:cs typeface="Arial"/>
              </a:defRPr>
            </a:defPPr>
          </a:lstStyle>
          <a:p xmlns:a="http://schemas.openxmlformats.org/drawingml/2006/main">
            <a:pPr algn="l">
              <a:defRPr sz="2325" b="0">
                <a:solidFill>
                  <a:srgbClr val="15334F"/>
                </a:solidFill>
                <a:latin typeface="Arial"/>
                <a:ea typeface="Arial"/>
                <a:cs typeface="Arial"/>
              </a:defRPr>
            </a:pPr>
            <a:r>
              <a:rPr sz="2325" b="0">
                <a:solidFill>
                  <a:srgbClr val="15334F"/>
                </a:solidFill>
                <a:latin typeface="Arial"/>
                <a:ea typeface="Arial"/>
                <a:cs typeface="Arial"/>
              </a:rPr>
              <a:t>03   Buscar piezas y revisar el historial</a:t>
            </a:r>
          </a:p>
        </p:txBody>
      </p:sp>
      <p:sp>
        <p:nvSpPr>
          <p:cNvPr id="6" name="04   Filtrar el catálogo por Frenos">
            <a:extLst xmlns:a="http://schemas.openxmlformats.org/drawingml/2006/main">
              <a:ext uri="{FF2B5EF4-FFF2-40B4-BE49-F238E27FC236}">
                <a16:creationId xmlns:a16="http://schemas.microsoft.com/office/drawing/2014/main" id="{7E4B5C58-A012-495F-91AE-A5048EF1E2D1}"/>
              </a:ext>
            </a:extLst>
          </p:cNvPr>
          <p:cNvSpPr>
            <a:spLocks xmlns:a="http://schemas.openxmlformats.org/drawingml/2006/main" noGrp="1"/>
          </p:cNvSpPr>
          <p:nvPr/>
        </p:nvSpPr>
        <p:spPr>
          <a:xfrm xmlns:a="http://schemas.openxmlformats.org/drawingml/2006/main">
            <a:off x="609600" y="38385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25" b="0">
                <a:solidFill>
                  <a:srgbClr val="15334F"/>
                </a:solidFill>
                <a:latin typeface="Arial"/>
                <a:ea typeface="Arial"/>
                <a:cs typeface="Arial"/>
              </a:defRPr>
            </a:defPPr>
          </a:lstStyle>
          <a:p xmlns:a="http://schemas.openxmlformats.org/drawingml/2006/main">
            <a:pPr algn="l">
              <a:defRPr sz="2325" b="0">
                <a:solidFill>
                  <a:srgbClr val="15334F"/>
                </a:solidFill>
                <a:latin typeface="Arial"/>
                <a:ea typeface="Arial"/>
                <a:cs typeface="Arial"/>
              </a:defRPr>
            </a:pPr>
            <a:r>
              <a:rPr sz="2325" b="0">
                <a:solidFill>
                  <a:srgbClr val="15334F"/>
                </a:solidFill>
                <a:latin typeface="Arial"/>
                <a:ea typeface="Arial"/>
                <a:cs typeface="Arial"/>
              </a:rPr>
              <a:t>04   Filtrar el catálogo por Frenos</a:t>
            </a:r>
          </a:p>
        </p:txBody>
      </p:sp>
      <p:sp>
        <p:nvSpPr>
          <p:cNvPr id="7" name="05   Mostrar la API y el contrato OpenAP">
            <a:extLst xmlns:a="http://schemas.openxmlformats.org/drawingml/2006/main">
              <a:ext uri="{FF2B5EF4-FFF2-40B4-BE49-F238E27FC236}">
                <a16:creationId xmlns:a16="http://schemas.microsoft.com/office/drawing/2014/main" id="{84EAE240-8BB3-4E0D-9D3F-BE831FF0A12F}"/>
              </a:ext>
            </a:extLst>
          </p:cNvPr>
          <p:cNvSpPr>
            <a:spLocks xmlns:a="http://schemas.openxmlformats.org/drawingml/2006/main" noGrp="1"/>
          </p:cNvSpPr>
          <p:nvPr/>
        </p:nvSpPr>
        <p:spPr>
          <a:xfrm xmlns:a="http://schemas.openxmlformats.org/drawingml/2006/main">
            <a:off x="609600" y="45624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25" b="0">
                <a:solidFill>
                  <a:srgbClr val="15334F"/>
                </a:solidFill>
                <a:latin typeface="Arial"/>
                <a:ea typeface="Arial"/>
                <a:cs typeface="Arial"/>
              </a:defRPr>
            </a:defPPr>
          </a:lstStyle>
          <a:p xmlns:a="http://schemas.openxmlformats.org/drawingml/2006/main">
            <a:pPr algn="l">
              <a:defRPr sz="2325" b="0">
                <a:solidFill>
                  <a:srgbClr val="15334F"/>
                </a:solidFill>
                <a:latin typeface="Arial"/>
                <a:ea typeface="Arial"/>
                <a:cs typeface="Arial"/>
              </a:defRPr>
            </a:pPr>
            <a:r>
              <a:rPr sz="2325" b="0">
                <a:solidFill>
                  <a:srgbClr val="15334F"/>
                </a:solidFill>
                <a:latin typeface="Arial"/>
                <a:ea typeface="Arial"/>
                <a:cs typeface="Arial"/>
              </a:rPr>
              <a:t>05   Mostrar la API y el contrato OpenAPI</a:t>
            </a:r>
          </a:p>
        </p:txBody>
      </p:sp>
      <p:sp>
        <p:nvSpPr>
          <p:cNvPr id="8" name="Cuenta y pasos detallados en las notas d">
            <a:extLst xmlns:a="http://schemas.openxmlformats.org/drawingml/2006/main">
              <a:ext uri="{FF2B5EF4-FFF2-40B4-BE49-F238E27FC236}">
                <a16:creationId xmlns:a16="http://schemas.microsoft.com/office/drawing/2014/main" id="{D01EA2A3-3E7B-4725-AE0F-CAA90FCEA7D1}"/>
              </a:ext>
            </a:extLst>
          </p:cNvPr>
          <p:cNvSpPr>
            <a:spLocks xmlns:a="http://schemas.openxmlformats.org/drawingml/2006/main" noGrp="1"/>
          </p:cNvSpPr>
          <p:nvPr/>
        </p:nvSpPr>
        <p:spPr>
          <a:xfrm xmlns:a="http://schemas.openxmlformats.org/drawingml/2006/main">
            <a:off x="609600" y="56483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53697A"/>
                </a:solidFill>
                <a:latin typeface="Arial"/>
                <a:ea typeface="Arial"/>
                <a:cs typeface="Arial"/>
              </a:defRPr>
            </a:defPPr>
          </a:lstStyle>
          <a:p xmlns:a="http://schemas.openxmlformats.org/drawingml/2006/main">
            <a:pPr algn="l">
              <a:defRPr sz="1950" b="0">
                <a:solidFill>
                  <a:srgbClr val="53697A"/>
                </a:solidFill>
                <a:latin typeface="Arial"/>
                <a:ea typeface="Arial"/>
                <a:cs typeface="Arial"/>
              </a:defRPr>
            </a:pPr>
            <a:r>
              <a:rPr sz="1950" b="0">
                <a:solidFill>
                  <a:srgbClr val="53697A"/>
                </a:solidFill>
                <a:latin typeface="Arial"/>
                <a:ea typeface="Arial"/>
                <a:cs typeface="Arial"/>
              </a:rPr>
              <a:t>Cuenta y pasos detallados en las notas del presentador.</a:t>
            </a:r>
          </a:p>
        </p:txBody>
      </p:sp>
    </p:spTree>
    <p:extLst>
      <p:ext uri="{BB962C8B-B14F-4D97-AF65-F5344CB8AC3E}">
        <p14:creationId xmlns:p14="http://schemas.microsoft.com/office/powerpoint/2010/main" val="183916259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Estado y próximas etapas">
            <a:extLst xmlns:a="http://schemas.openxmlformats.org/drawingml/2006/main">
              <a:ext uri="{FF2B5EF4-FFF2-40B4-BE49-F238E27FC236}">
                <a16:creationId xmlns:a16="http://schemas.microsoft.com/office/drawing/2014/main" id="{4BF42A25-1A32-42B3-A4A1-80D4989B3EB4}"/>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5334F"/>
                </a:solidFill>
                <a:latin typeface="Arial"/>
                <a:ea typeface="Arial"/>
                <a:cs typeface="Arial"/>
              </a:defRPr>
            </a:defPPr>
          </a:lstStyle>
          <a:p xmlns:a="http://schemas.openxmlformats.org/drawingml/2006/main">
            <a:pPr algn="l">
              <a:defRPr sz="3300" b="1">
                <a:solidFill>
                  <a:srgbClr val="15334F"/>
                </a:solidFill>
                <a:latin typeface="Arial"/>
                <a:ea typeface="Arial"/>
                <a:cs typeface="Arial"/>
              </a:defRPr>
            </a:pPr>
            <a:r>
              <a:rPr sz="3300" b="1">
                <a:solidFill>
                  <a:srgbClr val="15334F"/>
                </a:solidFill>
                <a:latin typeface="Arial"/>
                <a:ea typeface="Arial"/>
                <a:cs typeface="Arial"/>
              </a:rPr>
              <a:t>Estado y próximas etapas</a:t>
            </a:r>
          </a:p>
        </p:txBody>
      </p:sp>
      <p:sp>
        <p:nvSpPr>
          <p:cNvPr id="2" name="14">
            <a:extLst xmlns:a="http://schemas.openxmlformats.org/drawingml/2006/main">
              <a:ext uri="{FF2B5EF4-FFF2-40B4-BE49-F238E27FC236}">
                <a16:creationId xmlns:a16="http://schemas.microsoft.com/office/drawing/2014/main" id="{F09A92C9-AE62-49FB-B1D5-43E5BEA49F1E}"/>
              </a:ext>
            </a:extLst>
          </p:cNvPr>
          <p:cNvSpPr>
            <a:spLocks xmlns:a="http://schemas.openxmlformats.org/drawingml/2006/main" noGrp="1"/>
          </p:cNvSpPr>
          <p:nvPr/>
        </p:nvSpPr>
        <p:spPr>
          <a:xfrm xmlns:a="http://schemas.openxmlformats.org/drawingml/2006/main">
            <a:off x="11239500" y="63341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3697A"/>
                </a:solidFill>
                <a:latin typeface="Arial"/>
                <a:ea typeface="Arial"/>
                <a:cs typeface="Arial"/>
              </a:defRPr>
            </a:def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14</a:t>
            </a:r>
          </a:p>
        </p:txBody>
      </p:sp>
      <p:sp>
        <p:nvSpPr>
          <p:cNvPr id="3" name="Implementado">
            <a:extLst xmlns:a="http://schemas.openxmlformats.org/drawingml/2006/main">
              <a:ext uri="{FF2B5EF4-FFF2-40B4-BE49-F238E27FC236}">
                <a16:creationId xmlns:a16="http://schemas.microsoft.com/office/drawing/2014/main" id="{B6A2D677-BD9A-4CE8-9899-14C6B4765393}"/>
              </a:ext>
            </a:extLst>
          </p:cNvPr>
          <p:cNvSpPr>
            <a:spLocks xmlns:a="http://schemas.openxmlformats.org/drawingml/2006/main" noGrp="1"/>
          </p:cNvSpPr>
          <p:nvPr/>
        </p:nvSpPr>
        <p:spPr>
          <a:xfrm xmlns:a="http://schemas.openxmlformats.org/drawingml/2006/main">
            <a:off x="609600" y="17240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F4F8F"/>
                </a:solidFill>
                <a:latin typeface="Arial"/>
                <a:ea typeface="Arial"/>
                <a:cs typeface="Arial"/>
              </a:defRPr>
            </a:defPPr>
          </a:lstStyle>
          <a:p xmlns:a="http://schemas.openxmlformats.org/drawingml/2006/main">
            <a:pPr algn="l">
              <a:defRPr sz="2400" b="1">
                <a:solidFill>
                  <a:srgbClr val="1F4F8F"/>
                </a:solidFill>
                <a:latin typeface="Arial"/>
                <a:ea typeface="Arial"/>
                <a:cs typeface="Arial"/>
              </a:defRPr>
            </a:pPr>
            <a:r>
              <a:rPr sz="2400" b="1">
                <a:solidFill>
                  <a:srgbClr val="1F4F8F"/>
                </a:solidFill>
                <a:latin typeface="Arial"/>
                <a:ea typeface="Arial"/>
                <a:cs typeface="Arial"/>
              </a:rPr>
              <a:t>Implementado</a:t>
            </a:r>
          </a:p>
        </p:txBody>
      </p:sp>
      <p:sp>
        <p:nvSpPr>
          <p:cNvPr id="4" name="TP Inicial y Primera Parte&#10;Aplicación mu">
            <a:extLst xmlns:a="http://schemas.openxmlformats.org/drawingml/2006/main">
              <a:ext uri="{FF2B5EF4-FFF2-40B4-BE49-F238E27FC236}">
                <a16:creationId xmlns:a16="http://schemas.microsoft.com/office/drawing/2014/main" id="{8FED8900-842B-4ACC-913F-FFF8FE63EF88}"/>
              </a:ext>
            </a:extLst>
          </p:cNvPr>
          <p:cNvSpPr>
            <a:spLocks xmlns:a="http://schemas.openxmlformats.org/drawingml/2006/main" noGrp="1"/>
          </p:cNvSpPr>
          <p:nvPr/>
        </p:nvSpPr>
        <p:spPr>
          <a:xfrm xmlns:a="http://schemas.openxmlformats.org/drawingml/2006/main">
            <a:off x="609600" y="2419350"/>
            <a:ext cx="533400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15334F"/>
                </a:solidFill>
                <a:latin typeface="Arial"/>
                <a:ea typeface="Arial"/>
                <a:cs typeface="Arial"/>
              </a:defRPr>
            </a:defPPr>
          </a:lstStyle>
          <a:p xmlns:a="http://schemas.openxmlformats.org/drawingml/2006/main">
            <a:pPr algn="l">
              <a:defRPr sz="2175" b="0">
                <a:solidFill>
                  <a:srgbClr val="15334F"/>
                </a:solidFill>
                <a:latin typeface="Arial"/>
                <a:ea typeface="Arial"/>
                <a:cs typeface="Arial"/>
              </a:defRPr>
            </a:pPr>
            <a:r>
              <a:rPr sz="2175" b="0">
                <a:solidFill>
                  <a:srgbClr val="15334F"/>
                </a:solidFill>
                <a:latin typeface="Arial"/>
                <a:ea typeface="Arial"/>
                <a:cs typeface="Arial"/>
              </a:rPr>
              <a:t>TP Inicial y Primera Parte</a:t>
            </a:r>
          </a:p>
          <a:p xmlns:a="http://schemas.openxmlformats.org/drawingml/2006/main">
            <a:pPr algn="l">
              <a:defRPr sz="2175" b="0">
                <a:solidFill>
                  <a:srgbClr val="15334F"/>
                </a:solidFill>
                <a:latin typeface="Arial"/>
                <a:ea typeface="Arial"/>
                <a:cs typeface="Arial"/>
              </a:defRPr>
            </a:pPr>
            <a:r>
              <a:rPr sz="2175" b="0">
                <a:solidFill>
                  <a:srgbClr val="15334F"/>
                </a:solidFill>
                <a:latin typeface="Arial"/>
                <a:ea typeface="Arial"/>
                <a:cs typeface="Arial"/>
              </a:rPr>
              <a:t>Aplicación multicapa</a:t>
            </a:r>
          </a:p>
          <a:p xmlns:a="http://schemas.openxmlformats.org/drawingml/2006/main">
            <a:pPr algn="l">
              <a:defRPr sz="2175" b="0">
                <a:solidFill>
                  <a:srgbClr val="15334F"/>
                </a:solidFill>
                <a:latin typeface="Arial"/>
                <a:ea typeface="Arial"/>
                <a:cs typeface="Arial"/>
              </a:defRPr>
            </a:pPr>
            <a:r>
              <a:rPr sz="2175" b="0">
                <a:solidFill>
                  <a:srgbClr val="15334F"/>
                </a:solidFill>
                <a:latin typeface="Arial"/>
                <a:ea typeface="Arial"/>
                <a:cs typeface="Arial"/>
              </a:rPr>
              <a:t>Componentes reutilizables</a:t>
            </a:r>
          </a:p>
          <a:p xmlns:a="http://schemas.openxmlformats.org/drawingml/2006/main">
            <a:pPr algn="l">
              <a:defRPr sz="2175" b="0">
                <a:solidFill>
                  <a:srgbClr val="15334F"/>
                </a:solidFill>
                <a:latin typeface="Arial"/>
                <a:ea typeface="Arial"/>
                <a:cs typeface="Arial"/>
              </a:defRPr>
            </a:pPr>
            <a:r>
              <a:rPr sz="2175" b="0">
                <a:solidFill>
                  <a:srgbClr val="15334F"/>
                </a:solidFill>
                <a:latin typeface="Arial"/>
                <a:ea typeface="Arial"/>
                <a:cs typeface="Arial"/>
              </a:rPr>
              <a:t>Catálogo local y remoto</a:t>
            </a:r>
          </a:p>
          <a:p xmlns:a="http://schemas.openxmlformats.org/drawingml/2006/main">
            <a:pPr algn="l">
              <a:defRPr sz="2175" b="0">
                <a:solidFill>
                  <a:srgbClr val="15334F"/>
                </a:solidFill>
                <a:latin typeface="Arial"/>
                <a:ea typeface="Arial"/>
                <a:cs typeface="Arial"/>
              </a:defRPr>
            </a:pPr>
            <a:r>
              <a:rPr sz="2175" b="0">
                <a:solidFill>
                  <a:srgbClr val="15334F"/>
                </a:solidFill>
                <a:latin typeface="Arial"/>
                <a:ea typeface="Arial"/>
                <a:cs typeface="Arial"/>
              </a:rPr>
              <a:t>Patrones documentados</a:t>
            </a:r>
          </a:p>
        </p:txBody>
      </p:sp>
      <p:sp>
        <p:nvSpPr>
          <p:cNvPr id="5" name="Previsto para la Segunda Parte">
            <a:extLst xmlns:a="http://schemas.openxmlformats.org/drawingml/2006/main">
              <a:ext uri="{FF2B5EF4-FFF2-40B4-BE49-F238E27FC236}">
                <a16:creationId xmlns:a16="http://schemas.microsoft.com/office/drawing/2014/main" id="{FAB650A5-99F6-4DA4-9205-AE9374192A92}"/>
              </a:ext>
            </a:extLst>
          </p:cNvPr>
          <p:cNvSpPr>
            <a:spLocks xmlns:a="http://schemas.openxmlformats.org/drawingml/2006/main" noGrp="1"/>
          </p:cNvSpPr>
          <p:nvPr/>
        </p:nvSpPr>
        <p:spPr>
          <a:xfrm xmlns:a="http://schemas.openxmlformats.org/drawingml/2006/main">
            <a:off x="6553200" y="1724025"/>
            <a:ext cx="50768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EA580C"/>
                </a:solidFill>
                <a:latin typeface="Arial"/>
                <a:ea typeface="Arial"/>
                <a:cs typeface="Arial"/>
              </a:defRPr>
            </a:defPPr>
          </a:lstStyle>
          <a:p xmlns:a="http://schemas.openxmlformats.org/drawingml/2006/main">
            <a:pPr algn="l">
              <a:defRPr sz="2400" b="1">
                <a:solidFill>
                  <a:srgbClr val="EA580C"/>
                </a:solidFill>
                <a:latin typeface="Arial"/>
                <a:ea typeface="Arial"/>
                <a:cs typeface="Arial"/>
              </a:defRPr>
            </a:pPr>
            <a:r>
              <a:rPr sz="2400" b="1">
                <a:solidFill>
                  <a:srgbClr val="EA580C"/>
                </a:solidFill>
                <a:latin typeface="Arial"/>
                <a:ea typeface="Arial"/>
                <a:cs typeface="Arial"/>
              </a:rPr>
              <a:t>Previsto para la Segunda Parte</a:t>
            </a:r>
          </a:p>
        </p:txBody>
      </p:sp>
      <p:sp>
        <p:nvSpPr>
          <p:cNvPr id="6" name="Servicio SOAP&#10;Mensajería con RabbitMQ&#10;AP">
            <a:extLst xmlns:a="http://schemas.openxmlformats.org/drawingml/2006/main">
              <a:ext uri="{FF2B5EF4-FFF2-40B4-BE49-F238E27FC236}">
                <a16:creationId xmlns:a16="http://schemas.microsoft.com/office/drawing/2014/main" id="{DA6536B2-D84A-4E4B-A086-D7BA66F62EC5}"/>
              </a:ext>
            </a:extLst>
          </p:cNvPr>
          <p:cNvSpPr>
            <a:spLocks xmlns:a="http://schemas.openxmlformats.org/drawingml/2006/main" noGrp="1"/>
          </p:cNvSpPr>
          <p:nvPr/>
        </p:nvSpPr>
        <p:spPr>
          <a:xfrm xmlns:a="http://schemas.openxmlformats.org/drawingml/2006/main">
            <a:off x="6553200" y="2857500"/>
            <a:ext cx="49530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15334F"/>
                </a:solidFill>
                <a:latin typeface="Arial"/>
                <a:ea typeface="Arial"/>
                <a:cs typeface="Arial"/>
              </a:defRPr>
            </a:defPPr>
          </a:lstStyle>
          <a:p xmlns:a="http://schemas.openxmlformats.org/drawingml/2006/main">
            <a:pPr algn="l">
              <a:defRPr sz="2175" b="0">
                <a:solidFill>
                  <a:srgbClr val="15334F"/>
                </a:solidFill>
                <a:latin typeface="Arial"/>
                <a:ea typeface="Arial"/>
                <a:cs typeface="Arial"/>
              </a:defRPr>
            </a:pPr>
            <a:r>
              <a:rPr sz="2175" b="0">
                <a:solidFill>
                  <a:srgbClr val="15334F"/>
                </a:solidFill>
                <a:latin typeface="Arial"/>
                <a:ea typeface="Arial"/>
                <a:cs typeface="Arial"/>
              </a:rPr>
              <a:t>Servicio SOAP</a:t>
            </a:r>
          </a:p>
          <a:p xmlns:a="http://schemas.openxmlformats.org/drawingml/2006/main">
            <a:pPr algn="l">
              <a:defRPr sz="2175" b="0">
                <a:solidFill>
                  <a:srgbClr val="15334F"/>
                </a:solidFill>
                <a:latin typeface="Arial"/>
                <a:ea typeface="Arial"/>
                <a:cs typeface="Arial"/>
              </a:defRPr>
            </a:pPr>
            <a:r>
              <a:rPr sz="2175" b="0">
                <a:solidFill>
                  <a:srgbClr val="15334F"/>
                </a:solidFill>
                <a:latin typeface="Arial"/>
                <a:ea typeface="Arial"/>
                <a:cs typeface="Arial"/>
              </a:rPr>
              <a:t>Mensajería con RabbitMQ</a:t>
            </a:r>
          </a:p>
          <a:p xmlns:a="http://schemas.openxmlformats.org/drawingml/2006/main">
            <a:pPr algn="l">
              <a:defRPr sz="2175" b="0">
                <a:solidFill>
                  <a:srgbClr val="15334F"/>
                </a:solidFill>
                <a:latin typeface="Arial"/>
                <a:ea typeface="Arial"/>
                <a:cs typeface="Arial"/>
              </a:defRPr>
            </a:pPr>
            <a:r>
              <a:rPr sz="2175" b="0">
                <a:solidFill>
                  <a:srgbClr val="15334F"/>
                </a:solidFill>
                <a:latin typeface="Arial"/>
                <a:ea typeface="Arial"/>
                <a:cs typeface="Arial"/>
              </a:rPr>
              <a:t>APIs externas de tiendas</a:t>
            </a:r>
          </a:p>
          <a:p xmlns:a="http://schemas.openxmlformats.org/drawingml/2006/main">
            <a:pPr algn="l">
              <a:defRPr sz="2175" b="0">
                <a:solidFill>
                  <a:srgbClr val="15334F"/>
                </a:solidFill>
                <a:latin typeface="Arial"/>
                <a:ea typeface="Arial"/>
                <a:cs typeface="Arial"/>
              </a:defRPr>
            </a:pPr>
            <a:r>
              <a:rPr sz="2175" b="0">
                <a:solidFill>
                  <a:srgbClr val="15334F"/>
                </a:solidFill>
                <a:latin typeface="Arial"/>
                <a:ea typeface="Arial"/>
                <a:cs typeface="Arial"/>
              </a:rPr>
              <a:t>Diagnóstico asistido por IA</a:t>
            </a:r>
          </a:p>
        </p:txBody>
      </p:sp>
      <p:sp>
        <p:nvSpPr>
          <p:cNvPr id="7" name="84 pruebas aprobadas en la última ejecuc">
            <a:extLst xmlns:a="http://schemas.openxmlformats.org/drawingml/2006/main">
              <a:ext uri="{FF2B5EF4-FFF2-40B4-BE49-F238E27FC236}">
                <a16:creationId xmlns:a16="http://schemas.microsoft.com/office/drawing/2014/main" id="{705395C9-EF69-4448-A5E7-29272BF37C93}"/>
              </a:ext>
            </a:extLst>
          </p:cNvPr>
          <p:cNvSpPr>
            <a:spLocks xmlns:a="http://schemas.openxmlformats.org/drawingml/2006/main" noGrp="1"/>
          </p:cNvSpPr>
          <p:nvPr/>
        </p:nvSpPr>
        <p:spPr>
          <a:xfrm xmlns:a="http://schemas.openxmlformats.org/drawingml/2006/main">
            <a:off x="609600" y="55816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53697A"/>
                </a:solidFill>
                <a:latin typeface="Arial"/>
                <a:ea typeface="Arial"/>
                <a:cs typeface="Arial"/>
              </a:defRPr>
            </a:defPPr>
          </a:lstStyle>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84 pruebas aprobadas en la última ejecución documentada del 11/10/2026.</a:t>
            </a:r>
          </a:p>
        </p:txBody>
      </p:sp>
    </p:spTree>
    <p:extLst>
      <p:ext uri="{BB962C8B-B14F-4D97-AF65-F5344CB8AC3E}">
        <p14:creationId xmlns:p14="http://schemas.microsoft.com/office/powerpoint/2010/main" val="9253565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2026-10-11T08:00:30.7020000Z</dcterms:created>
  <dcterms:modified xsi:type="dcterms:W3CDTF">2026-10-11T08:00:30.7020000Z</dcterms:modified>
</coreProperties>
</file>